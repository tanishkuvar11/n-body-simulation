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BM Plex Mono" panose="020B0509050203000203" pitchFamily="49" charset="0"/>
      <p:regular r:id="rId13"/>
      <p:bold r:id="rId14"/>
    </p:embeddedFont>
    <p:embeddedFont>
      <p:font typeface="IBM Plex Sans" panose="020B0503050203000203"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C6EC77D-A433-1D84-A2B4-6336DC6D72C1}">
          <p14:sldIdLst>
            <p14:sldId id="256"/>
          </p14:sldIdLst>
        </p14:section>
        <p14:section name="Problem" id="{F7873060-A489-67F0-B562-2D0FDEF90763}">
          <p14:sldIdLst>
            <p14:sldId id="257"/>
          </p14:sldIdLst>
        </p14:section>
        <p14:section name="Objectives" id="{3226DDB0-D8AE-C392-4DC8-EC6EE45926F7}">
          <p14:sldIdLst>
            <p14:sldId id="258"/>
          </p14:sldIdLst>
        </p14:section>
        <p14:section name="Design" id="{3CA05D98-437E-B99F-57FC-646B3E473F54}">
          <p14:sldIdLst>
            <p14:sldId id="259"/>
            <p14:sldId id="260"/>
          </p14:sldIdLst>
        </p14:section>
        <p14:section name="Evaluation" id="{083AFFA7-243D-2DD2-C7DD-CC26BE13F1ED}">
          <p14:sldIdLst>
            <p14:sldId id="261"/>
            <p14:sldId id="262"/>
            <p14:sldId id="263"/>
          </p14:sldIdLst>
        </p14:section>
        <p14:section name="Analysis" id="{36B070BE-402A-6780-B27F-2E9C1B40A45D}">
          <p14:sldIdLst>
            <p14:sldId id="264"/>
          </p14:sldIdLst>
        </p14:section>
        <p14:section name="Closing" id="{F510F9E9-6720-1C9F-1255-090BFC2927E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busiest thread</c:v>
                </c:pt>
              </c:strCache>
            </c:strRef>
          </c:tx>
          <c:spPr>
            <a:solidFill>
              <a:srgbClr val="D9472B"/>
            </a:solidFill>
            <a:effectLst/>
          </c:spPr>
          <c:invertIfNegative val="0"/>
          <c:cat>
            <c:strRef>
              <c:f>Sheet1!$A$2:$A$9</c:f>
              <c:strCache>
                <c:ptCount val="8"/>
                <c:pt idx="0">
                  <c:v>T0</c:v>
                </c:pt>
                <c:pt idx="1">
                  <c:v>T1</c:v>
                </c:pt>
                <c:pt idx="2">
                  <c:v>T2</c:v>
                </c:pt>
                <c:pt idx="3">
                  <c:v>T3</c:v>
                </c:pt>
                <c:pt idx="4">
                  <c:v>T4</c:v>
                </c:pt>
                <c:pt idx="5">
                  <c:v>T5</c:v>
                </c:pt>
                <c:pt idx="6">
                  <c:v>T6</c:v>
                </c:pt>
                <c:pt idx="7">
                  <c:v>T7</c:v>
                </c:pt>
              </c:strCache>
            </c:strRef>
          </c:cat>
          <c:val>
            <c:numRef>
              <c:f>Sheet1!$B$2:$B$9</c:f>
              <c:numCache>
                <c:formatCode>General</c:formatCode>
                <c:ptCount val="8"/>
                <c:pt idx="0">
                  <c:v>0</c:v>
                </c:pt>
                <c:pt idx="1">
                  <c:v>0</c:v>
                </c:pt>
                <c:pt idx="2">
                  <c:v>46.627301722764969</c:v>
                </c:pt>
                <c:pt idx="3">
                  <c:v>0</c:v>
                </c:pt>
                <c:pt idx="4">
                  <c:v>0</c:v>
                </c:pt>
                <c:pt idx="5">
                  <c:v>0</c:v>
                </c:pt>
                <c:pt idx="6">
                  <c:v>0</c:v>
                </c:pt>
                <c:pt idx="7">
                  <c:v>0</c:v>
                </c:pt>
              </c:numCache>
            </c:numRef>
          </c:val>
          <c:extLst>
            <c:ext xmlns:c16="http://schemas.microsoft.com/office/drawing/2014/chart" uri="{C3380CC4-5D6E-409C-BE32-E72D297353CC}">
              <c16:uniqueId val="{00000000-FBF0-402A-817A-8BDC0E9BCADB}"/>
            </c:ext>
          </c:extLst>
        </c:ser>
        <c:ser>
          <c:idx val="1"/>
          <c:order val="1"/>
          <c:tx>
            <c:strRef>
              <c:f>Sheet1!$C$1</c:f>
              <c:strCache>
                <c:ptCount val="1"/>
                <c:pt idx="0">
                  <c:v>other threads</c:v>
                </c:pt>
              </c:strCache>
            </c:strRef>
          </c:tx>
          <c:spPr>
            <a:solidFill>
              <a:srgbClr val="B9B5AC"/>
            </a:solidFill>
            <a:effectLst/>
          </c:spPr>
          <c:invertIfNegative val="0"/>
          <c:cat>
            <c:strRef>
              <c:f>Sheet1!$A$2:$A$9</c:f>
              <c:strCache>
                <c:ptCount val="8"/>
                <c:pt idx="0">
                  <c:v>T0</c:v>
                </c:pt>
                <c:pt idx="1">
                  <c:v>T1</c:v>
                </c:pt>
                <c:pt idx="2">
                  <c:v>T2</c:v>
                </c:pt>
                <c:pt idx="3">
                  <c:v>T3</c:v>
                </c:pt>
                <c:pt idx="4">
                  <c:v>T4</c:v>
                </c:pt>
                <c:pt idx="5">
                  <c:v>T5</c:v>
                </c:pt>
                <c:pt idx="6">
                  <c:v>T6</c:v>
                </c:pt>
                <c:pt idx="7">
                  <c:v>T7</c:v>
                </c:pt>
              </c:strCache>
            </c:strRef>
          </c:cat>
          <c:val>
            <c:numRef>
              <c:f>Sheet1!$C$2:$C$9</c:f>
              <c:numCache>
                <c:formatCode>General</c:formatCode>
                <c:ptCount val="8"/>
                <c:pt idx="0">
                  <c:v>33.106200397014618</c:v>
                </c:pt>
                <c:pt idx="1">
                  <c:v>34.979499876499176</c:v>
                </c:pt>
                <c:pt idx="2">
                  <c:v>0</c:v>
                </c:pt>
                <c:pt idx="3">
                  <c:v>33.142298460006714</c:v>
                </c:pt>
                <c:pt idx="4">
                  <c:v>15.797000378370285</c:v>
                </c:pt>
                <c:pt idx="5">
                  <c:v>21.286899223923683</c:v>
                </c:pt>
                <c:pt idx="6">
                  <c:v>31.557999551296234</c:v>
                </c:pt>
                <c:pt idx="7">
                  <c:v>12.612099759280682</c:v>
                </c:pt>
              </c:numCache>
            </c:numRef>
          </c:val>
          <c:extLst>
            <c:ext xmlns:c16="http://schemas.microsoft.com/office/drawing/2014/chart" uri="{C3380CC4-5D6E-409C-BE32-E72D297353CC}">
              <c16:uniqueId val="{00000001-FBF0-402A-817A-8BDC0E9BCADB}"/>
            </c:ext>
          </c:extLst>
        </c:ser>
        <c:dLbls>
          <c:showLegendKey val="0"/>
          <c:showVal val="0"/>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B9B5AC"/>
            </a:solidFill>
            <a:prstDash val="solid"/>
            <a:round/>
          </a:ln>
        </c:spPr>
        <c:txPr>
          <a:bodyPr/>
          <a:lstStyle/>
          <a:p>
            <a:pPr>
              <a:defRPr sz="1000" b="0" i="0" u="none" strike="noStrike">
                <a:solidFill>
                  <a:srgbClr val="6B6862"/>
                </a:solidFill>
                <a:latin typeface="IBM Plex Mono"/>
              </a:defRPr>
            </a:pPr>
            <a:endParaRPr lang="en-US"/>
          </a:p>
        </c:txPr>
        <c:crossAx val="2094734552"/>
        <c:crosses val="autoZero"/>
        <c:auto val="1"/>
        <c:lblAlgn val="ctr"/>
        <c:lblOffset val="100"/>
        <c:noMultiLvlLbl val="1"/>
      </c:catAx>
      <c:valAx>
        <c:axId val="2094734552"/>
        <c:scaling>
          <c:orientation val="minMax"/>
          <c:max val="50"/>
          <c:min val="0"/>
        </c:scaling>
        <c:delete val="0"/>
        <c:axPos val="t"/>
        <c:majorGridlines>
          <c:spPr>
            <a:ln w="6350" cap="flat">
              <a:solidFill>
                <a:srgbClr val="E4E1D9"/>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6B6862"/>
                </a:solidFill>
                <a:latin typeface="IBM Plex Mono"/>
              </a:defRPr>
            </a:pPr>
            <a:endParaRPr lang="en-US"/>
          </a:p>
        </c:txPr>
        <c:crossAx val="2094734554"/>
        <c:crosses val="autoZero"/>
        <c:crossBetween val="between"/>
        <c:majorUnit val="25"/>
      </c:valAx>
      <c:spPr>
        <a:solidFill>
          <a:srgbClr val="F5F3EE"/>
        </a:solidFill>
        <a:ln>
          <a:noFill/>
        </a:ln>
        <a:effectLst/>
      </c:spPr>
    </c:plotArea>
    <c:plotVisOnly val="1"/>
    <c:dispBlanksAs val="span"/>
    <c:showDLblsOverMax val="1"/>
  </c:chart>
  <c:spPr>
    <a:solidFill>
      <a:srgbClr val="F5F3E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static run, measured λ</c:v>
                </c:pt>
              </c:strCache>
            </c:strRef>
          </c:tx>
          <c:spPr>
            <a:ln w="25400" cap="flat">
              <a:solidFill>
                <a:srgbClr val="B9B5AC"/>
              </a:solidFill>
              <a:prstDash val="solid"/>
              <a:round/>
            </a:ln>
            <a:effectLst/>
          </c:spPr>
          <c:marker>
            <c:symbol val="none"/>
          </c:marker>
          <c:cat>
            <c:strRef>
              <c:f>Sheet1!$A$2:$A$152</c:f>
              <c:strCache>
                <c:ptCount val="151"/>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strCache>
            </c:strRef>
          </c:cat>
          <c:val>
            <c:numRef>
              <c:f>Sheet1!$B$2:$B$152</c:f>
              <c:numCache>
                <c:formatCode>General</c:formatCode>
                <c:ptCount val="151"/>
                <c:pt idx="0">
                  <c:v>0.145011</c:v>
                </c:pt>
                <c:pt idx="1">
                  <c:v>1.8502000000000001E-2</c:v>
                </c:pt>
                <c:pt idx="2">
                  <c:v>1.8654E-2</c:v>
                </c:pt>
                <c:pt idx="3">
                  <c:v>1.9295000000000003E-2</c:v>
                </c:pt>
                <c:pt idx="4">
                  <c:v>1.7367250000000001E-2</c:v>
                </c:pt>
                <c:pt idx="5">
                  <c:v>4.69684E-2</c:v>
                </c:pt>
                <c:pt idx="6">
                  <c:v>6.0807E-2</c:v>
                </c:pt>
                <c:pt idx="7">
                  <c:v>9.5743200000000001E-2</c:v>
                </c:pt>
                <c:pt idx="8">
                  <c:v>0.1014924</c:v>
                </c:pt>
                <c:pt idx="9">
                  <c:v>0.1053264</c:v>
                </c:pt>
                <c:pt idx="10">
                  <c:v>0.13589639999999997</c:v>
                </c:pt>
                <c:pt idx="11">
                  <c:v>0.21442039999999998</c:v>
                </c:pt>
                <c:pt idx="12">
                  <c:v>0.25230459999999999</c:v>
                </c:pt>
                <c:pt idx="13">
                  <c:v>0.25051220000000002</c:v>
                </c:pt>
                <c:pt idx="14">
                  <c:v>0.25154219999999999</c:v>
                </c:pt>
                <c:pt idx="15">
                  <c:v>0.2021162</c:v>
                </c:pt>
                <c:pt idx="16">
                  <c:v>0.11281440000000001</c:v>
                </c:pt>
                <c:pt idx="17">
                  <c:v>7.7187800000000001E-2</c:v>
                </c:pt>
                <c:pt idx="18">
                  <c:v>7.9755800000000002E-2</c:v>
                </c:pt>
                <c:pt idx="19">
                  <c:v>0.1337024</c:v>
                </c:pt>
                <c:pt idx="20">
                  <c:v>0.12707679999999999</c:v>
                </c:pt>
                <c:pt idx="21">
                  <c:v>0.19588100000000003</c:v>
                </c:pt>
                <c:pt idx="22">
                  <c:v>0.16024140000000001</c:v>
                </c:pt>
                <c:pt idx="23">
                  <c:v>0.22344</c:v>
                </c:pt>
                <c:pt idx="24">
                  <c:v>0.16761819999999999</c:v>
                </c:pt>
                <c:pt idx="25">
                  <c:v>0.1659146</c:v>
                </c:pt>
                <c:pt idx="26">
                  <c:v>9.5994800000000005E-2</c:v>
                </c:pt>
                <c:pt idx="27">
                  <c:v>9.8186000000000009E-2</c:v>
                </c:pt>
                <c:pt idx="28">
                  <c:v>5.7880200000000007E-2</c:v>
                </c:pt>
                <c:pt idx="29">
                  <c:v>5.7057199999999995E-2</c:v>
                </c:pt>
                <c:pt idx="30">
                  <c:v>5.4839600000000002E-2</c:v>
                </c:pt>
                <c:pt idx="31">
                  <c:v>5.32942E-2</c:v>
                </c:pt>
                <c:pt idx="32">
                  <c:v>5.11128E-2</c:v>
                </c:pt>
                <c:pt idx="33">
                  <c:v>3.17256E-2</c:v>
                </c:pt>
                <c:pt idx="34">
                  <c:v>3.1039799999999999E-2</c:v>
                </c:pt>
                <c:pt idx="35">
                  <c:v>3.1303399999999995E-2</c:v>
                </c:pt>
                <c:pt idx="36">
                  <c:v>3.1513600000000003E-2</c:v>
                </c:pt>
                <c:pt idx="37">
                  <c:v>3.12162E-2</c:v>
                </c:pt>
                <c:pt idx="38">
                  <c:v>2.5284400000000002E-2</c:v>
                </c:pt>
                <c:pt idx="39">
                  <c:v>3.0882799999999998E-2</c:v>
                </c:pt>
                <c:pt idx="40">
                  <c:v>3.2451199999999999E-2</c:v>
                </c:pt>
                <c:pt idx="41">
                  <c:v>3.1186199999999997E-2</c:v>
                </c:pt>
                <c:pt idx="42">
                  <c:v>2.9785200000000001E-2</c:v>
                </c:pt>
                <c:pt idx="43">
                  <c:v>2.5651399999999998E-2</c:v>
                </c:pt>
                <c:pt idx="44">
                  <c:v>2.05142E-2</c:v>
                </c:pt>
                <c:pt idx="45">
                  <c:v>2.8161200000000004E-2</c:v>
                </c:pt>
                <c:pt idx="46">
                  <c:v>3.3114400000000002E-2</c:v>
                </c:pt>
                <c:pt idx="47">
                  <c:v>3.4082800000000003E-2</c:v>
                </c:pt>
                <c:pt idx="48">
                  <c:v>3.7746600000000005E-2</c:v>
                </c:pt>
                <c:pt idx="49">
                  <c:v>3.8423600000000002E-2</c:v>
                </c:pt>
                <c:pt idx="50">
                  <c:v>3.0730199999999996E-2</c:v>
                </c:pt>
                <c:pt idx="51">
                  <c:v>2.6845799999999996E-2</c:v>
                </c:pt>
                <c:pt idx="52">
                  <c:v>2.6607599999999999E-2</c:v>
                </c:pt>
                <c:pt idx="53">
                  <c:v>2.31302E-2</c:v>
                </c:pt>
                <c:pt idx="54">
                  <c:v>2.3508599999999998E-2</c:v>
                </c:pt>
                <c:pt idx="55">
                  <c:v>3.4713800000000003E-2</c:v>
                </c:pt>
                <c:pt idx="56">
                  <c:v>3.4417799999999998E-2</c:v>
                </c:pt>
                <c:pt idx="57">
                  <c:v>3.3345599999999996E-2</c:v>
                </c:pt>
                <c:pt idx="58">
                  <c:v>4.1804800000000003E-2</c:v>
                </c:pt>
                <c:pt idx="59">
                  <c:v>4.0519199999999998E-2</c:v>
                </c:pt>
                <c:pt idx="60">
                  <c:v>2.8022000000000002E-2</c:v>
                </c:pt>
                <c:pt idx="61">
                  <c:v>3.1241600000000001E-2</c:v>
                </c:pt>
                <c:pt idx="62">
                  <c:v>3.1825000000000006E-2</c:v>
                </c:pt>
                <c:pt idx="63">
                  <c:v>2.30396E-2</c:v>
                </c:pt>
                <c:pt idx="64">
                  <c:v>2.7018199999999999E-2</c:v>
                </c:pt>
                <c:pt idx="65">
                  <c:v>2.9446199999999999E-2</c:v>
                </c:pt>
                <c:pt idx="66">
                  <c:v>2.6112400000000001E-2</c:v>
                </c:pt>
                <c:pt idx="67">
                  <c:v>2.63994E-2</c:v>
                </c:pt>
                <c:pt idx="68">
                  <c:v>2.68054E-2</c:v>
                </c:pt>
                <c:pt idx="69">
                  <c:v>2.2205200000000001E-2</c:v>
                </c:pt>
                <c:pt idx="70">
                  <c:v>1.94918E-2</c:v>
                </c:pt>
                <c:pt idx="71">
                  <c:v>1.8661199999999999E-2</c:v>
                </c:pt>
                <c:pt idx="72">
                  <c:v>1.6653999999999999E-2</c:v>
                </c:pt>
                <c:pt idx="73">
                  <c:v>1.5675600000000001E-2</c:v>
                </c:pt>
                <c:pt idx="74">
                  <c:v>1.4943000000000001E-2</c:v>
                </c:pt>
                <c:pt idx="75">
                  <c:v>1.50362E-2</c:v>
                </c:pt>
                <c:pt idx="76">
                  <c:v>1.4522200000000002E-2</c:v>
                </c:pt>
                <c:pt idx="77">
                  <c:v>1.6452000000000001E-2</c:v>
                </c:pt>
                <c:pt idx="78">
                  <c:v>1.5391199999999999E-2</c:v>
                </c:pt>
                <c:pt idx="79">
                  <c:v>1.4867200000000001E-2</c:v>
                </c:pt>
                <c:pt idx="80">
                  <c:v>6.2990400000000002E-2</c:v>
                </c:pt>
                <c:pt idx="81">
                  <c:v>6.5243799999999991E-2</c:v>
                </c:pt>
                <c:pt idx="82">
                  <c:v>6.84448E-2</c:v>
                </c:pt>
                <c:pt idx="83">
                  <c:v>7.1149600000000007E-2</c:v>
                </c:pt>
                <c:pt idx="84">
                  <c:v>7.4383000000000005E-2</c:v>
                </c:pt>
                <c:pt idx="85">
                  <c:v>0.12537599999999999</c:v>
                </c:pt>
                <c:pt idx="86">
                  <c:v>0.12236739999999999</c:v>
                </c:pt>
                <c:pt idx="87">
                  <c:v>0.1222</c:v>
                </c:pt>
                <c:pt idx="88">
                  <c:v>0.1194944</c:v>
                </c:pt>
                <c:pt idx="89">
                  <c:v>0.11647479999999999</c:v>
                </c:pt>
                <c:pt idx="90">
                  <c:v>1.806E-2</c:v>
                </c:pt>
                <c:pt idx="91">
                  <c:v>1.8660400000000001E-2</c:v>
                </c:pt>
                <c:pt idx="92">
                  <c:v>1.4458000000000002E-2</c:v>
                </c:pt>
                <c:pt idx="93">
                  <c:v>1.5549799999999999E-2</c:v>
                </c:pt>
                <c:pt idx="94">
                  <c:v>1.7702000000000002E-2</c:v>
                </c:pt>
                <c:pt idx="95">
                  <c:v>1.6732400000000001E-2</c:v>
                </c:pt>
                <c:pt idx="96">
                  <c:v>1.8094599999999999E-2</c:v>
                </c:pt>
                <c:pt idx="97">
                  <c:v>1.97892E-2</c:v>
                </c:pt>
                <c:pt idx="98">
                  <c:v>2.2374399999999999E-2</c:v>
                </c:pt>
                <c:pt idx="99">
                  <c:v>2.5516799999999999E-2</c:v>
                </c:pt>
                <c:pt idx="100">
                  <c:v>3.0713999999999998E-2</c:v>
                </c:pt>
                <c:pt idx="101">
                  <c:v>3.9021199999999999E-2</c:v>
                </c:pt>
                <c:pt idx="102">
                  <c:v>0.17500860000000001</c:v>
                </c:pt>
                <c:pt idx="103">
                  <c:v>0.17940439999999999</c:v>
                </c:pt>
                <c:pt idx="104">
                  <c:v>0.17964839999999999</c:v>
                </c:pt>
                <c:pt idx="105">
                  <c:v>0.17788660000000001</c:v>
                </c:pt>
                <c:pt idx="106">
                  <c:v>0.17480219999999999</c:v>
                </c:pt>
                <c:pt idx="107">
                  <c:v>4.1489399999999996E-2</c:v>
                </c:pt>
                <c:pt idx="108">
                  <c:v>4.0426200000000002E-2</c:v>
                </c:pt>
                <c:pt idx="109">
                  <c:v>5.6102399999999997E-2</c:v>
                </c:pt>
                <c:pt idx="110">
                  <c:v>7.0489800000000005E-2</c:v>
                </c:pt>
                <c:pt idx="111">
                  <c:v>0.10946059999999999</c:v>
                </c:pt>
                <c:pt idx="112">
                  <c:v>0.15500439999999999</c:v>
                </c:pt>
                <c:pt idx="113">
                  <c:v>0.182917</c:v>
                </c:pt>
                <c:pt idx="114">
                  <c:v>0.19840920000000001</c:v>
                </c:pt>
                <c:pt idx="115">
                  <c:v>0.22073119999999999</c:v>
                </c:pt>
                <c:pt idx="116">
                  <c:v>0.1990432</c:v>
                </c:pt>
                <c:pt idx="117">
                  <c:v>0.22934519999999997</c:v>
                </c:pt>
                <c:pt idx="118">
                  <c:v>0.22877019999999998</c:v>
                </c:pt>
                <c:pt idx="119">
                  <c:v>0.23140839999999999</c:v>
                </c:pt>
                <c:pt idx="120">
                  <c:v>0.23669120000000002</c:v>
                </c:pt>
                <c:pt idx="121">
                  <c:v>0.26215700000000003</c:v>
                </c:pt>
                <c:pt idx="122">
                  <c:v>0.22785240000000001</c:v>
                </c:pt>
                <c:pt idx="123">
                  <c:v>0.24503979999999997</c:v>
                </c:pt>
                <c:pt idx="124">
                  <c:v>0.26557920000000002</c:v>
                </c:pt>
                <c:pt idx="125">
                  <c:v>0.28548800000000002</c:v>
                </c:pt>
                <c:pt idx="126">
                  <c:v>0.30635279999999998</c:v>
                </c:pt>
                <c:pt idx="127">
                  <c:v>0.33246100000000001</c:v>
                </c:pt>
                <c:pt idx="128">
                  <c:v>0.35235899999999998</c:v>
                </c:pt>
                <c:pt idx="129">
                  <c:v>0.36465340000000002</c:v>
                </c:pt>
                <c:pt idx="130">
                  <c:v>0.37382360000000003</c:v>
                </c:pt>
                <c:pt idx="131">
                  <c:v>0.39469779999999999</c:v>
                </c:pt>
                <c:pt idx="132">
                  <c:v>0.43282860000000001</c:v>
                </c:pt>
                <c:pt idx="133">
                  <c:v>0.47007200000000005</c:v>
                </c:pt>
                <c:pt idx="134">
                  <c:v>0.501224</c:v>
                </c:pt>
                <c:pt idx="135">
                  <c:v>0.52798080000000003</c:v>
                </c:pt>
                <c:pt idx="136">
                  <c:v>0.52538839999999998</c:v>
                </c:pt>
                <c:pt idx="137">
                  <c:v>0.49764860000000005</c:v>
                </c:pt>
                <c:pt idx="138">
                  <c:v>0.47657559999999999</c:v>
                </c:pt>
                <c:pt idx="139">
                  <c:v>0.46861800000000003</c:v>
                </c:pt>
                <c:pt idx="140">
                  <c:v>0.46315260000000003</c:v>
                </c:pt>
                <c:pt idx="141">
                  <c:v>0.48209099999999994</c:v>
                </c:pt>
                <c:pt idx="142">
                  <c:v>0.51227319999999998</c:v>
                </c:pt>
                <c:pt idx="143">
                  <c:v>0.53388360000000001</c:v>
                </c:pt>
                <c:pt idx="144">
                  <c:v>0.55929519999999999</c:v>
                </c:pt>
                <c:pt idx="145">
                  <c:v>0.57464519999999997</c:v>
                </c:pt>
                <c:pt idx="146">
                  <c:v>0.58854800000000007</c:v>
                </c:pt>
                <c:pt idx="147">
                  <c:v>0.58989200000000008</c:v>
                </c:pt>
                <c:pt idx="148">
                  <c:v>0.59163739999999998</c:v>
                </c:pt>
                <c:pt idx="149">
                  <c:v>0.57765519999999992</c:v>
                </c:pt>
                <c:pt idx="150">
                  <c:v>0.57365820000000001</c:v>
                </c:pt>
              </c:numCache>
            </c:numRef>
          </c:val>
          <c:smooth val="0"/>
          <c:extLst>
            <c:ext xmlns:c16="http://schemas.microsoft.com/office/drawing/2014/chart" uri="{C3380CC4-5D6E-409C-BE32-E72D297353CC}">
              <c16:uniqueId val="{00000000-04F8-4D66-B5FE-9B8E1E1DDDE4}"/>
            </c:ext>
          </c:extLst>
        </c:ser>
        <c:ser>
          <c:idx val="1"/>
          <c:order val="1"/>
          <c:tx>
            <c:strRef>
              <c:f>Sheet1!$C$1</c:f>
              <c:strCache>
                <c:ptCount val="1"/>
                <c:pt idx="0">
                  <c:v>work imbalance of static blocks</c:v>
                </c:pt>
              </c:strCache>
            </c:strRef>
          </c:tx>
          <c:spPr>
            <a:ln w="25400" cap="flat">
              <a:solidFill>
                <a:srgbClr val="111111"/>
              </a:solidFill>
              <a:prstDash val="solid"/>
              <a:round/>
            </a:ln>
            <a:effectLst/>
          </c:spPr>
          <c:marker>
            <c:symbol val="none"/>
          </c:marker>
          <c:cat>
            <c:strRef>
              <c:f>Sheet1!$A$2:$A$152</c:f>
              <c:strCache>
                <c:ptCount val="151"/>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strCache>
            </c:strRef>
          </c:cat>
          <c:val>
            <c:numRef>
              <c:f>Sheet1!$C$2:$C$152</c:f>
              <c:numCache>
                <c:formatCode>General</c:formatCode>
                <c:ptCount val="151"/>
                <c:pt idx="0">
                  <c:v>6.5209999999999999E-3</c:v>
                </c:pt>
                <c:pt idx="1">
                  <c:v>5.7869999999999996E-3</c:v>
                </c:pt>
                <c:pt idx="2">
                  <c:v>6.1650000000000003E-3</c:v>
                </c:pt>
                <c:pt idx="3">
                  <c:v>6.0549999999999996E-3</c:v>
                </c:pt>
                <c:pt idx="4">
                  <c:v>5.9670000000000001E-3</c:v>
                </c:pt>
                <c:pt idx="5">
                  <c:v>6.0169999999999998E-3</c:v>
                </c:pt>
                <c:pt idx="6">
                  <c:v>6.3369999999999998E-3</c:v>
                </c:pt>
                <c:pt idx="7">
                  <c:v>6.4770000000000001E-3</c:v>
                </c:pt>
                <c:pt idx="8">
                  <c:v>6.2630000000000003E-3</c:v>
                </c:pt>
                <c:pt idx="9">
                  <c:v>6.2350000000000001E-3</c:v>
                </c:pt>
                <c:pt idx="10">
                  <c:v>5.9550000000000002E-3</c:v>
                </c:pt>
                <c:pt idx="11">
                  <c:v>5.803E-3</c:v>
                </c:pt>
                <c:pt idx="12">
                  <c:v>4.9309999999999996E-3</c:v>
                </c:pt>
                <c:pt idx="13">
                  <c:v>5.3189999999999999E-3</c:v>
                </c:pt>
                <c:pt idx="14">
                  <c:v>5.3350000000000003E-3</c:v>
                </c:pt>
                <c:pt idx="15">
                  <c:v>4.8589999999999996E-3</c:v>
                </c:pt>
                <c:pt idx="16">
                  <c:v>4.6350000000000002E-3</c:v>
                </c:pt>
                <c:pt idx="17">
                  <c:v>5.0740000000000004E-3</c:v>
                </c:pt>
                <c:pt idx="18">
                  <c:v>5.0070000000000002E-3</c:v>
                </c:pt>
                <c:pt idx="19">
                  <c:v>4.3080000000000002E-3</c:v>
                </c:pt>
                <c:pt idx="20">
                  <c:v>4.4380000000000001E-3</c:v>
                </c:pt>
                <c:pt idx="21">
                  <c:v>4.7140000000000003E-3</c:v>
                </c:pt>
                <c:pt idx="22">
                  <c:v>5.1960000000000001E-3</c:v>
                </c:pt>
                <c:pt idx="23">
                  <c:v>5.6899999999999997E-3</c:v>
                </c:pt>
                <c:pt idx="24">
                  <c:v>5.7559999999999998E-3</c:v>
                </c:pt>
                <c:pt idx="25">
                  <c:v>6.3530000000000001E-3</c:v>
                </c:pt>
                <c:pt idx="26">
                  <c:v>6.9389999999999999E-3</c:v>
                </c:pt>
                <c:pt idx="27">
                  <c:v>6.5430000000000002E-3</c:v>
                </c:pt>
                <c:pt idx="28">
                  <c:v>6.9890000000000004E-3</c:v>
                </c:pt>
                <c:pt idx="29">
                  <c:v>6.9880000000000003E-3</c:v>
                </c:pt>
                <c:pt idx="30">
                  <c:v>6.0390000000000001E-3</c:v>
                </c:pt>
                <c:pt idx="31">
                  <c:v>5.6979999999999999E-3</c:v>
                </c:pt>
                <c:pt idx="32">
                  <c:v>4.8450000000000003E-3</c:v>
                </c:pt>
                <c:pt idx="33">
                  <c:v>5.4590000000000003E-3</c:v>
                </c:pt>
                <c:pt idx="34">
                  <c:v>5.9969999999999997E-3</c:v>
                </c:pt>
                <c:pt idx="35">
                  <c:v>6.5839999999999996E-3</c:v>
                </c:pt>
                <c:pt idx="36">
                  <c:v>7.2820000000000003E-3</c:v>
                </c:pt>
                <c:pt idx="37">
                  <c:v>8.0689999999999998E-3</c:v>
                </c:pt>
                <c:pt idx="38">
                  <c:v>7.6140000000000001E-3</c:v>
                </c:pt>
                <c:pt idx="39">
                  <c:v>8.0510000000000009E-3</c:v>
                </c:pt>
                <c:pt idx="40">
                  <c:v>7.8480000000000008E-3</c:v>
                </c:pt>
                <c:pt idx="41">
                  <c:v>7.7710000000000001E-3</c:v>
                </c:pt>
                <c:pt idx="42">
                  <c:v>6.8529999999999997E-3</c:v>
                </c:pt>
                <c:pt idx="43">
                  <c:v>6.8199999999999997E-3</c:v>
                </c:pt>
                <c:pt idx="44">
                  <c:v>6.3839999999999999E-3</c:v>
                </c:pt>
                <c:pt idx="45">
                  <c:v>6.4599999999999996E-3</c:v>
                </c:pt>
                <c:pt idx="46">
                  <c:v>6.9519999999999998E-3</c:v>
                </c:pt>
                <c:pt idx="47">
                  <c:v>6.4970000000000002E-3</c:v>
                </c:pt>
                <c:pt idx="48">
                  <c:v>7.1630000000000001E-3</c:v>
                </c:pt>
                <c:pt idx="49">
                  <c:v>7.1289999999999999E-3</c:v>
                </c:pt>
                <c:pt idx="50">
                  <c:v>7.7330000000000003E-3</c:v>
                </c:pt>
                <c:pt idx="51">
                  <c:v>8.2170000000000003E-3</c:v>
                </c:pt>
                <c:pt idx="52">
                  <c:v>8.4089999999999998E-3</c:v>
                </c:pt>
                <c:pt idx="53">
                  <c:v>8.9619999999999995E-3</c:v>
                </c:pt>
                <c:pt idx="54">
                  <c:v>9.2689999999999995E-3</c:v>
                </c:pt>
                <c:pt idx="55">
                  <c:v>1.0238000000000001E-2</c:v>
                </c:pt>
                <c:pt idx="56">
                  <c:v>1.1037E-2</c:v>
                </c:pt>
                <c:pt idx="57">
                  <c:v>1.1831E-2</c:v>
                </c:pt>
                <c:pt idx="58">
                  <c:v>1.2435E-2</c:v>
                </c:pt>
                <c:pt idx="59">
                  <c:v>1.1658999999999999E-2</c:v>
                </c:pt>
                <c:pt idx="60">
                  <c:v>1.184E-2</c:v>
                </c:pt>
                <c:pt idx="61">
                  <c:v>1.1733E-2</c:v>
                </c:pt>
                <c:pt idx="62">
                  <c:v>1.1759E-2</c:v>
                </c:pt>
                <c:pt idx="63">
                  <c:v>1.2274E-2</c:v>
                </c:pt>
                <c:pt idx="64">
                  <c:v>1.231E-2</c:v>
                </c:pt>
                <c:pt idx="65">
                  <c:v>1.2803E-2</c:v>
                </c:pt>
                <c:pt idx="66">
                  <c:v>1.2671E-2</c:v>
                </c:pt>
                <c:pt idx="67">
                  <c:v>1.2083E-2</c:v>
                </c:pt>
                <c:pt idx="68">
                  <c:v>1.3552E-2</c:v>
                </c:pt>
                <c:pt idx="69">
                  <c:v>1.4746E-2</c:v>
                </c:pt>
                <c:pt idx="70">
                  <c:v>1.5126000000000001E-2</c:v>
                </c:pt>
                <c:pt idx="71">
                  <c:v>1.5513000000000001E-2</c:v>
                </c:pt>
                <c:pt idx="72">
                  <c:v>1.5466000000000001E-2</c:v>
                </c:pt>
                <c:pt idx="73">
                  <c:v>1.5938999999999998E-2</c:v>
                </c:pt>
                <c:pt idx="74">
                  <c:v>1.7243000000000001E-2</c:v>
                </c:pt>
                <c:pt idx="75">
                  <c:v>1.5800999999999999E-2</c:v>
                </c:pt>
                <c:pt idx="76">
                  <c:v>1.5441E-2</c:v>
                </c:pt>
                <c:pt idx="77">
                  <c:v>1.4933E-2</c:v>
                </c:pt>
                <c:pt idx="78">
                  <c:v>1.6906000000000001E-2</c:v>
                </c:pt>
                <c:pt idx="79">
                  <c:v>1.8981000000000001E-2</c:v>
                </c:pt>
                <c:pt idx="80">
                  <c:v>1.6617E-2</c:v>
                </c:pt>
                <c:pt idx="81">
                  <c:v>2.1700000000000001E-2</c:v>
                </c:pt>
                <c:pt idx="82">
                  <c:v>2.2322000000000002E-2</c:v>
                </c:pt>
                <c:pt idx="83">
                  <c:v>2.2110000000000001E-2</c:v>
                </c:pt>
                <c:pt idx="84">
                  <c:v>2.23E-2</c:v>
                </c:pt>
                <c:pt idx="85">
                  <c:v>1.9921000000000001E-2</c:v>
                </c:pt>
                <c:pt idx="86">
                  <c:v>2.0060999999999999E-2</c:v>
                </c:pt>
                <c:pt idx="87">
                  <c:v>2.2152000000000002E-2</c:v>
                </c:pt>
                <c:pt idx="88">
                  <c:v>1.9984999999999999E-2</c:v>
                </c:pt>
                <c:pt idx="89">
                  <c:v>2.0577000000000002E-2</c:v>
                </c:pt>
                <c:pt idx="90">
                  <c:v>2.0049999999999998E-2</c:v>
                </c:pt>
                <c:pt idx="91">
                  <c:v>2.3352999999999999E-2</c:v>
                </c:pt>
                <c:pt idx="92">
                  <c:v>2.6495999999999999E-2</c:v>
                </c:pt>
                <c:pt idx="93">
                  <c:v>2.8243000000000001E-2</c:v>
                </c:pt>
                <c:pt idx="94">
                  <c:v>3.0984000000000001E-2</c:v>
                </c:pt>
                <c:pt idx="95">
                  <c:v>3.0127000000000001E-2</c:v>
                </c:pt>
                <c:pt idx="96">
                  <c:v>3.2204000000000003E-2</c:v>
                </c:pt>
                <c:pt idx="97">
                  <c:v>3.6908999999999997E-2</c:v>
                </c:pt>
                <c:pt idx="98">
                  <c:v>3.8183000000000002E-2</c:v>
                </c:pt>
                <c:pt idx="99">
                  <c:v>4.7565000000000003E-2</c:v>
                </c:pt>
                <c:pt idx="100">
                  <c:v>5.2683000000000001E-2</c:v>
                </c:pt>
                <c:pt idx="101">
                  <c:v>5.7218999999999999E-2</c:v>
                </c:pt>
                <c:pt idx="102">
                  <c:v>5.5125E-2</c:v>
                </c:pt>
                <c:pt idx="103">
                  <c:v>5.4892999999999997E-2</c:v>
                </c:pt>
                <c:pt idx="104">
                  <c:v>5.2851000000000002E-2</c:v>
                </c:pt>
                <c:pt idx="105">
                  <c:v>5.2893999999999997E-2</c:v>
                </c:pt>
                <c:pt idx="106">
                  <c:v>5.4706999999999999E-2</c:v>
                </c:pt>
                <c:pt idx="107">
                  <c:v>5.2832999999999998E-2</c:v>
                </c:pt>
                <c:pt idx="108">
                  <c:v>5.2527999999999998E-2</c:v>
                </c:pt>
                <c:pt idx="109">
                  <c:v>9.0638999999999997E-2</c:v>
                </c:pt>
                <c:pt idx="110">
                  <c:v>0.123194</c:v>
                </c:pt>
                <c:pt idx="111">
                  <c:v>0.30477799999999999</c:v>
                </c:pt>
                <c:pt idx="112">
                  <c:v>0.32590400000000003</c:v>
                </c:pt>
                <c:pt idx="113">
                  <c:v>0.22783300000000001</c:v>
                </c:pt>
                <c:pt idx="114">
                  <c:v>0.17604600000000001</c:v>
                </c:pt>
                <c:pt idx="115">
                  <c:v>0.231488</c:v>
                </c:pt>
                <c:pt idx="116">
                  <c:v>0.13337099999999999</c:v>
                </c:pt>
                <c:pt idx="117">
                  <c:v>0.46208300000000002</c:v>
                </c:pt>
                <c:pt idx="118">
                  <c:v>0.172706</c:v>
                </c:pt>
                <c:pt idx="119">
                  <c:v>0.20513700000000001</c:v>
                </c:pt>
                <c:pt idx="120">
                  <c:v>0.25357499999999999</c:v>
                </c:pt>
                <c:pt idx="121">
                  <c:v>0.26681300000000002</c:v>
                </c:pt>
                <c:pt idx="122">
                  <c:v>0.27510600000000002</c:v>
                </c:pt>
                <c:pt idx="123">
                  <c:v>0.295989</c:v>
                </c:pt>
                <c:pt idx="124">
                  <c:v>0.336698</c:v>
                </c:pt>
                <c:pt idx="125">
                  <c:v>0.37623000000000001</c:v>
                </c:pt>
                <c:pt idx="126">
                  <c:v>0.39607100000000001</c:v>
                </c:pt>
                <c:pt idx="127">
                  <c:v>0.41098699999999999</c:v>
                </c:pt>
                <c:pt idx="128">
                  <c:v>0.42482199999999998</c:v>
                </c:pt>
                <c:pt idx="129">
                  <c:v>0.41790300000000002</c:v>
                </c:pt>
                <c:pt idx="130">
                  <c:v>0.456065</c:v>
                </c:pt>
                <c:pt idx="131">
                  <c:v>0.53415199999999996</c:v>
                </c:pt>
                <c:pt idx="132">
                  <c:v>0.57865100000000003</c:v>
                </c:pt>
                <c:pt idx="133">
                  <c:v>0.61294000000000004</c:v>
                </c:pt>
                <c:pt idx="134">
                  <c:v>0.60518499999999997</c:v>
                </c:pt>
                <c:pt idx="135">
                  <c:v>0.57785600000000004</c:v>
                </c:pt>
                <c:pt idx="136">
                  <c:v>0.51916099999999998</c:v>
                </c:pt>
                <c:pt idx="137">
                  <c:v>0.48455300000000001</c:v>
                </c:pt>
                <c:pt idx="138">
                  <c:v>0.49016300000000002</c:v>
                </c:pt>
                <c:pt idx="139">
                  <c:v>0.51537599999999995</c:v>
                </c:pt>
                <c:pt idx="140">
                  <c:v>0.56328699999999998</c:v>
                </c:pt>
                <c:pt idx="141">
                  <c:v>0.61112699999999998</c:v>
                </c:pt>
                <c:pt idx="142">
                  <c:v>0.63404099999999997</c:v>
                </c:pt>
                <c:pt idx="143">
                  <c:v>0.63786799999999999</c:v>
                </c:pt>
                <c:pt idx="144">
                  <c:v>0.63219899999999996</c:v>
                </c:pt>
                <c:pt idx="145">
                  <c:v>0.62093399999999999</c:v>
                </c:pt>
                <c:pt idx="146">
                  <c:v>0.61775199999999997</c:v>
                </c:pt>
                <c:pt idx="147">
                  <c:v>0.61519299999999999</c:v>
                </c:pt>
                <c:pt idx="148">
                  <c:v>0.617946</c:v>
                </c:pt>
                <c:pt idx="149">
                  <c:v>0.62263999999999997</c:v>
                </c:pt>
                <c:pt idx="150">
                  <c:v>0.62015900000000002</c:v>
                </c:pt>
              </c:numCache>
            </c:numRef>
          </c:val>
          <c:smooth val="0"/>
          <c:extLst>
            <c:ext xmlns:c16="http://schemas.microsoft.com/office/drawing/2014/chart" uri="{C3380CC4-5D6E-409C-BE32-E72D297353CC}">
              <c16:uniqueId val="{00000001-04F8-4D66-B5FE-9B8E1E1DDDE4}"/>
            </c:ext>
          </c:extLst>
        </c:ser>
        <c:ser>
          <c:idx val="2"/>
          <c:order val="2"/>
          <c:tx>
            <c:strRef>
              <c:f>Sheet1!$D$1</c:f>
              <c:strCache>
                <c:ptCount val="1"/>
                <c:pt idx="0">
                  <c:v>adaptive run, measured λ</c:v>
                </c:pt>
              </c:strCache>
            </c:strRef>
          </c:tx>
          <c:spPr>
            <a:ln w="25400" cap="flat">
              <a:solidFill>
                <a:srgbClr val="D9472B"/>
              </a:solidFill>
              <a:prstDash val="solid"/>
              <a:round/>
            </a:ln>
            <a:effectLst/>
          </c:spPr>
          <c:marker>
            <c:symbol val="none"/>
          </c:marker>
          <c:cat>
            <c:strRef>
              <c:f>Sheet1!$A$2:$A$152</c:f>
              <c:strCache>
                <c:ptCount val="151"/>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strCache>
            </c:strRef>
          </c:cat>
          <c:val>
            <c:numRef>
              <c:f>Sheet1!$D$2:$D$152</c:f>
              <c:numCache>
                <c:formatCode>General</c:formatCode>
                <c:ptCount val="151"/>
                <c:pt idx="0">
                  <c:v>2.9107999999999998E-2</c:v>
                </c:pt>
                <c:pt idx="1">
                  <c:v>1.9275E-2</c:v>
                </c:pt>
                <c:pt idx="2">
                  <c:v>7.3999000000000009E-2</c:v>
                </c:pt>
                <c:pt idx="3">
                  <c:v>0.109088</c:v>
                </c:pt>
                <c:pt idx="4">
                  <c:v>9.6479750000000003E-2</c:v>
                </c:pt>
                <c:pt idx="5">
                  <c:v>8.3265000000000006E-2</c:v>
                </c:pt>
                <c:pt idx="6">
                  <c:v>8.9662199999999997E-2</c:v>
                </c:pt>
                <c:pt idx="7">
                  <c:v>7.1308800000000006E-2</c:v>
                </c:pt>
                <c:pt idx="8">
                  <c:v>4.5658799999999999E-2</c:v>
                </c:pt>
                <c:pt idx="9">
                  <c:v>4.3257400000000001E-2</c:v>
                </c:pt>
                <c:pt idx="10">
                  <c:v>4.2067599999999997E-2</c:v>
                </c:pt>
                <c:pt idx="11">
                  <c:v>3.6440800000000002E-2</c:v>
                </c:pt>
                <c:pt idx="12">
                  <c:v>5.5541799999999995E-2</c:v>
                </c:pt>
                <c:pt idx="13">
                  <c:v>4.8902399999999999E-2</c:v>
                </c:pt>
                <c:pt idx="14">
                  <c:v>4.5790399999999995E-2</c:v>
                </c:pt>
                <c:pt idx="15">
                  <c:v>4.7645E-2</c:v>
                </c:pt>
                <c:pt idx="16">
                  <c:v>6.8091800000000008E-2</c:v>
                </c:pt>
                <c:pt idx="17">
                  <c:v>0.13405259999999999</c:v>
                </c:pt>
                <c:pt idx="18">
                  <c:v>0.1425244</c:v>
                </c:pt>
                <c:pt idx="19">
                  <c:v>0.15898680000000001</c:v>
                </c:pt>
                <c:pt idx="20">
                  <c:v>0.16067619999999999</c:v>
                </c:pt>
                <c:pt idx="21">
                  <c:v>0.15169379999999999</c:v>
                </c:pt>
                <c:pt idx="22">
                  <c:v>6.7296600000000012E-2</c:v>
                </c:pt>
                <c:pt idx="23">
                  <c:v>6.6284800000000005E-2</c:v>
                </c:pt>
                <c:pt idx="24">
                  <c:v>5.9551200000000006E-2</c:v>
                </c:pt>
                <c:pt idx="25">
                  <c:v>5.9277200000000009E-2</c:v>
                </c:pt>
                <c:pt idx="26">
                  <c:v>6.4504000000000006E-2</c:v>
                </c:pt>
                <c:pt idx="27">
                  <c:v>7.5056600000000001E-2</c:v>
                </c:pt>
                <c:pt idx="28">
                  <c:v>7.1624800000000002E-2</c:v>
                </c:pt>
                <c:pt idx="29">
                  <c:v>6.494140000000001E-2</c:v>
                </c:pt>
                <c:pt idx="30">
                  <c:v>8.0024999999999999E-2</c:v>
                </c:pt>
                <c:pt idx="31">
                  <c:v>7.7316599999999999E-2</c:v>
                </c:pt>
                <c:pt idx="32">
                  <c:v>7.5675199999999998E-2</c:v>
                </c:pt>
                <c:pt idx="33">
                  <c:v>7.9967800000000006E-2</c:v>
                </c:pt>
                <c:pt idx="34">
                  <c:v>8.1271799999999991E-2</c:v>
                </c:pt>
                <c:pt idx="35">
                  <c:v>6.4075599999999996E-2</c:v>
                </c:pt>
                <c:pt idx="36">
                  <c:v>5.4093799999999991E-2</c:v>
                </c:pt>
                <c:pt idx="37">
                  <c:v>5.3526399999999995E-2</c:v>
                </c:pt>
                <c:pt idx="38">
                  <c:v>4.6938400000000005E-2</c:v>
                </c:pt>
                <c:pt idx="39">
                  <c:v>4.0537799999999999E-2</c:v>
                </c:pt>
                <c:pt idx="40">
                  <c:v>0.205564</c:v>
                </c:pt>
                <c:pt idx="41">
                  <c:v>0.1970238</c:v>
                </c:pt>
                <c:pt idx="42">
                  <c:v>0.18071120000000002</c:v>
                </c:pt>
                <c:pt idx="43">
                  <c:v>0.17552600000000002</c:v>
                </c:pt>
                <c:pt idx="44">
                  <c:v>0.17147879999999999</c:v>
                </c:pt>
                <c:pt idx="45">
                  <c:v>4.8440000000000001E-4</c:v>
                </c:pt>
                <c:pt idx="46">
                  <c:v>4.7042000000000004E-3</c:v>
                </c:pt>
                <c:pt idx="47">
                  <c:v>8.7914000000000013E-3</c:v>
                </c:pt>
                <c:pt idx="48">
                  <c:v>1.6422800000000001E-2</c:v>
                </c:pt>
                <c:pt idx="49">
                  <c:v>2.9991E-2</c:v>
                </c:pt>
                <c:pt idx="50">
                  <c:v>3.48954E-2</c:v>
                </c:pt>
                <c:pt idx="51">
                  <c:v>3.4416000000000002E-2</c:v>
                </c:pt>
                <c:pt idx="52">
                  <c:v>3.4005199999999999E-2</c:v>
                </c:pt>
                <c:pt idx="53">
                  <c:v>5.7539600000000003E-2</c:v>
                </c:pt>
                <c:pt idx="54">
                  <c:v>6.5539800000000009E-2</c:v>
                </c:pt>
                <c:pt idx="55">
                  <c:v>6.4514600000000005E-2</c:v>
                </c:pt>
                <c:pt idx="56">
                  <c:v>6.4485000000000001E-2</c:v>
                </c:pt>
                <c:pt idx="57">
                  <c:v>6.6245399999999996E-2</c:v>
                </c:pt>
                <c:pt idx="58">
                  <c:v>3.7943199999999996E-2</c:v>
                </c:pt>
                <c:pt idx="59">
                  <c:v>1.95736E-2</c:v>
                </c:pt>
                <c:pt idx="60">
                  <c:v>1.8951000000000003E-2</c:v>
                </c:pt>
                <c:pt idx="61">
                  <c:v>1.7869599999999999E-2</c:v>
                </c:pt>
                <c:pt idx="62">
                  <c:v>1.6398000000000003E-2</c:v>
                </c:pt>
                <c:pt idx="63">
                  <c:v>4.4472999999999999E-2</c:v>
                </c:pt>
                <c:pt idx="64">
                  <c:v>4.7776200000000005E-2</c:v>
                </c:pt>
                <c:pt idx="65">
                  <c:v>7.3846999999999996E-2</c:v>
                </c:pt>
                <c:pt idx="66">
                  <c:v>7.7959399999999998E-2</c:v>
                </c:pt>
                <c:pt idx="67">
                  <c:v>7.951939999999999E-2</c:v>
                </c:pt>
                <c:pt idx="68">
                  <c:v>5.2730199999999991E-2</c:v>
                </c:pt>
                <c:pt idx="69">
                  <c:v>6.1244999999999994E-2</c:v>
                </c:pt>
                <c:pt idx="70">
                  <c:v>3.6717E-2</c:v>
                </c:pt>
                <c:pt idx="71">
                  <c:v>3.3957799999999996E-2</c:v>
                </c:pt>
                <c:pt idx="72">
                  <c:v>3.1576E-2</c:v>
                </c:pt>
                <c:pt idx="73">
                  <c:v>3.0823800000000002E-2</c:v>
                </c:pt>
                <c:pt idx="74">
                  <c:v>1.9563199999999999E-2</c:v>
                </c:pt>
                <c:pt idx="75">
                  <c:v>2.4617E-2</c:v>
                </c:pt>
                <c:pt idx="76">
                  <c:v>2.9537999999999998E-2</c:v>
                </c:pt>
                <c:pt idx="77">
                  <c:v>3.6171399999999999E-2</c:v>
                </c:pt>
                <c:pt idx="78">
                  <c:v>3.8903800000000002E-2</c:v>
                </c:pt>
                <c:pt idx="79">
                  <c:v>3.8611400000000004E-2</c:v>
                </c:pt>
                <c:pt idx="80">
                  <c:v>3.4797800000000004E-2</c:v>
                </c:pt>
                <c:pt idx="81">
                  <c:v>3.8484200000000003E-2</c:v>
                </c:pt>
                <c:pt idx="82">
                  <c:v>5.8323800000000002E-2</c:v>
                </c:pt>
                <c:pt idx="83">
                  <c:v>9.1591200000000011E-2</c:v>
                </c:pt>
                <c:pt idx="84">
                  <c:v>0.107738</c:v>
                </c:pt>
                <c:pt idx="85">
                  <c:v>0.1053644</c:v>
                </c:pt>
                <c:pt idx="86">
                  <c:v>0.1008724</c:v>
                </c:pt>
                <c:pt idx="87">
                  <c:v>7.6726199999999994E-2</c:v>
                </c:pt>
                <c:pt idx="88">
                  <c:v>4.6687600000000003E-2</c:v>
                </c:pt>
                <c:pt idx="89">
                  <c:v>2.9469600000000002E-2</c:v>
                </c:pt>
                <c:pt idx="90">
                  <c:v>5.2225599999999997E-2</c:v>
                </c:pt>
                <c:pt idx="91">
                  <c:v>5.1519599999999999E-2</c:v>
                </c:pt>
                <c:pt idx="92">
                  <c:v>5.6133199999999994E-2</c:v>
                </c:pt>
                <c:pt idx="93">
                  <c:v>6.8612199999999998E-2</c:v>
                </c:pt>
                <c:pt idx="94">
                  <c:v>8.1391799999999986E-2</c:v>
                </c:pt>
                <c:pt idx="95">
                  <c:v>6.6764000000000004E-2</c:v>
                </c:pt>
                <c:pt idx="96">
                  <c:v>6.3571000000000003E-2</c:v>
                </c:pt>
                <c:pt idx="97">
                  <c:v>5.8762400000000006E-2</c:v>
                </c:pt>
                <c:pt idx="98">
                  <c:v>4.2203200000000003E-2</c:v>
                </c:pt>
                <c:pt idx="99">
                  <c:v>3.4211000000000005E-2</c:v>
                </c:pt>
                <c:pt idx="100">
                  <c:v>3.36732E-2</c:v>
                </c:pt>
                <c:pt idx="101">
                  <c:v>3.68992E-2</c:v>
                </c:pt>
                <c:pt idx="102">
                  <c:v>3.83574E-2</c:v>
                </c:pt>
                <c:pt idx="103">
                  <c:v>5.7554599999999997E-2</c:v>
                </c:pt>
                <c:pt idx="104">
                  <c:v>5.9565E-2</c:v>
                </c:pt>
                <c:pt idx="105">
                  <c:v>5.7913800000000001E-2</c:v>
                </c:pt>
                <c:pt idx="106">
                  <c:v>5.8672800000000004E-2</c:v>
                </c:pt>
                <c:pt idx="107">
                  <c:v>6.0134200000000006E-2</c:v>
                </c:pt>
                <c:pt idx="108">
                  <c:v>4.4822800000000003E-2</c:v>
                </c:pt>
                <c:pt idx="109">
                  <c:v>5.1407400000000006E-2</c:v>
                </c:pt>
                <c:pt idx="110">
                  <c:v>6.0841999999999993E-2</c:v>
                </c:pt>
                <c:pt idx="111">
                  <c:v>9.9506600000000001E-2</c:v>
                </c:pt>
                <c:pt idx="112">
                  <c:v>0.1350634</c:v>
                </c:pt>
                <c:pt idx="113">
                  <c:v>0.16307100000000002</c:v>
                </c:pt>
                <c:pt idx="114">
                  <c:v>0.18531919999999999</c:v>
                </c:pt>
                <c:pt idx="115">
                  <c:v>0.20617459999999999</c:v>
                </c:pt>
                <c:pt idx="116">
                  <c:v>0.1593774</c:v>
                </c:pt>
                <c:pt idx="117">
                  <c:v>0.11566319999999999</c:v>
                </c:pt>
                <c:pt idx="118">
                  <c:v>7.8526799999999994E-2</c:v>
                </c:pt>
                <c:pt idx="119">
                  <c:v>4.0415400000000004E-2</c:v>
                </c:pt>
                <c:pt idx="120">
                  <c:v>5.1660000000000009E-4</c:v>
                </c:pt>
                <c:pt idx="121">
                  <c:v>4.3880000000000004E-4</c:v>
                </c:pt>
                <c:pt idx="122">
                  <c:v>4.306E-4</c:v>
                </c:pt>
                <c:pt idx="123">
                  <c:v>3.746E-4</c:v>
                </c:pt>
                <c:pt idx="124">
                  <c:v>4.2459999999999997E-4</c:v>
                </c:pt>
                <c:pt idx="125">
                  <c:v>5.978E-4</c:v>
                </c:pt>
                <c:pt idx="126">
                  <c:v>6.0059999999999996E-4</c:v>
                </c:pt>
                <c:pt idx="127">
                  <c:v>5.6020000000000006E-4</c:v>
                </c:pt>
                <c:pt idx="128">
                  <c:v>5.3419999999999997E-4</c:v>
                </c:pt>
                <c:pt idx="129">
                  <c:v>5.8002000000000001E-3</c:v>
                </c:pt>
                <c:pt idx="130">
                  <c:v>5.6201999999999997E-3</c:v>
                </c:pt>
                <c:pt idx="131">
                  <c:v>6.0387999999999996E-3</c:v>
                </c:pt>
                <c:pt idx="132">
                  <c:v>6.0037999999999992E-3</c:v>
                </c:pt>
                <c:pt idx="133">
                  <c:v>9.4890000000000009E-3</c:v>
                </c:pt>
                <c:pt idx="134">
                  <c:v>4.1891999999999997E-3</c:v>
                </c:pt>
                <c:pt idx="135">
                  <c:v>4.1808000000000001E-3</c:v>
                </c:pt>
                <c:pt idx="136">
                  <c:v>3.7673999999999997E-3</c:v>
                </c:pt>
                <c:pt idx="137">
                  <c:v>3.787E-3</c:v>
                </c:pt>
                <c:pt idx="138">
                  <c:v>3.012E-4</c:v>
                </c:pt>
                <c:pt idx="139">
                  <c:v>3.0219999999999997E-4</c:v>
                </c:pt>
                <c:pt idx="140">
                  <c:v>3.1300000000000002E-4</c:v>
                </c:pt>
                <c:pt idx="141">
                  <c:v>3.0179999999999996E-4</c:v>
                </c:pt>
                <c:pt idx="142">
                  <c:v>3.0499999999999999E-4</c:v>
                </c:pt>
                <c:pt idx="143">
                  <c:v>3.0460000000000003E-4</c:v>
                </c:pt>
                <c:pt idx="144">
                  <c:v>1.4488000000000001E-3</c:v>
                </c:pt>
                <c:pt idx="145">
                  <c:v>1.4346000000000001E-3</c:v>
                </c:pt>
                <c:pt idx="146">
                  <c:v>1.4596000000000001E-3</c:v>
                </c:pt>
                <c:pt idx="147">
                  <c:v>1.4522000000000001E-3</c:v>
                </c:pt>
                <c:pt idx="148">
                  <c:v>4.3207200000000001E-2</c:v>
                </c:pt>
                <c:pt idx="149">
                  <c:v>4.2121599999999995E-2</c:v>
                </c:pt>
                <c:pt idx="150">
                  <c:v>4.2126200000000003E-2</c:v>
                </c:pt>
              </c:numCache>
            </c:numRef>
          </c:val>
          <c:smooth val="0"/>
          <c:extLst>
            <c:ext xmlns:c16="http://schemas.microsoft.com/office/drawing/2014/chart" uri="{C3380CC4-5D6E-409C-BE32-E72D297353CC}">
              <c16:uniqueId val="{00000002-04F8-4D66-B5FE-9B8E1E1DDDE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6B6862"/>
                    </a:solidFill>
                    <a:latin typeface="IBM Plex Mono"/>
                  </a:defRPr>
                </a:pPr>
                <a:r>
                  <a:rPr sz="1000" b="0" i="0" u="none" strike="noStrike">
                    <a:solidFill>
                      <a:srgbClr val="6B6862"/>
                    </a:solidFill>
                    <a:latin typeface="IBM Plex Mono"/>
                  </a:rPr>
                  <a:t>simulation time</a:t>
                </a:r>
              </a:p>
            </c:rich>
          </c:tx>
          <c:overlay val="0"/>
        </c:title>
        <c:numFmt formatCode="General" sourceLinked="1"/>
        <c:majorTickMark val="out"/>
        <c:minorTickMark val="none"/>
        <c:tickLblPos val="low"/>
        <c:spPr>
          <a:ln w="12700" cap="flat">
            <a:solidFill>
              <a:srgbClr val="B9B5AC"/>
            </a:solidFill>
            <a:prstDash val="solid"/>
            <a:round/>
          </a:ln>
        </c:spPr>
        <c:txPr>
          <a:bodyPr/>
          <a:lstStyle/>
          <a:p>
            <a:pPr>
              <a:defRPr sz="1000" b="0" i="0" u="none" strike="noStrike">
                <a:solidFill>
                  <a:srgbClr val="6B6862"/>
                </a:solidFill>
                <a:latin typeface="IBM Plex Mono"/>
              </a:defRPr>
            </a:pPr>
            <a:endParaRPr lang="en-US"/>
          </a:p>
        </c:txPr>
        <c:crossAx val="2094734552"/>
        <c:crosses val="autoZero"/>
        <c:auto val="1"/>
        <c:lblAlgn val="ctr"/>
        <c:lblOffset val="100"/>
        <c:tickLblSkip val="25"/>
        <c:noMultiLvlLbl val="1"/>
      </c:catAx>
      <c:valAx>
        <c:axId val="2094734552"/>
        <c:scaling>
          <c:orientation val="minMax"/>
          <c:max val="0.7"/>
          <c:min val="0"/>
        </c:scaling>
        <c:delete val="0"/>
        <c:axPos val="l"/>
        <c:majorGridlines>
          <c:spPr>
            <a:ln w="6350" cap="flat">
              <a:solidFill>
                <a:srgbClr val="E4E1D9"/>
              </a:solidFill>
              <a:prstDash val="solid"/>
              <a:round/>
            </a:ln>
          </c:spPr>
        </c:majorGridlines>
        <c:title>
          <c:tx>
            <c:rich>
              <a:bodyPr/>
              <a:lstStyle/>
              <a:p>
                <a:pPr>
                  <a:defRPr sz="1000" b="0" i="0" u="none" strike="noStrike">
                    <a:solidFill>
                      <a:srgbClr val="6B6862"/>
                    </a:solidFill>
                    <a:latin typeface="IBM Plex Mono"/>
                  </a:defRPr>
                </a:pPr>
                <a:r>
                  <a:rPr sz="1000" b="0" i="0" u="none" strike="noStrike">
                    <a:solidFill>
                      <a:srgbClr val="6B6862"/>
                    </a:solidFill>
                    <a:latin typeface="IBM Plex Mono"/>
                  </a:rPr>
                  <a:t>λ (5-step mean)</a:t>
                </a:r>
              </a:p>
            </c:rich>
          </c:tx>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6B6862"/>
                </a:solidFill>
                <a:latin typeface="IBM Plex Mono"/>
              </a:defRPr>
            </a:pPr>
            <a:endParaRPr lang="en-US"/>
          </a:p>
        </c:txPr>
        <c:crossAx val="2094734554"/>
        <c:crosses val="autoZero"/>
        <c:crossBetween val="between"/>
        <c:majorUnit val="0.1"/>
      </c:valAx>
      <c:spPr>
        <a:solidFill>
          <a:srgbClr val="F5F3EE"/>
        </a:solidFill>
        <a:ln>
          <a:noFill/>
        </a:ln>
        <a:effectLst/>
      </c:spPr>
    </c:plotArea>
    <c:legend>
      <c:legendPos val="t"/>
      <c:overlay val="0"/>
      <c:txPr>
        <a:bodyPr/>
        <a:lstStyle/>
        <a:p>
          <a:pPr>
            <a:defRPr sz="1000">
              <a:solidFill>
                <a:srgbClr val="3A3936"/>
              </a:solidFill>
              <a:latin typeface="IBM Plex Mono"/>
              <a:cs typeface="IBM Plex Mono"/>
            </a:defRPr>
          </a:pPr>
          <a:endParaRPr lang="en-US"/>
        </a:p>
      </c:txPr>
    </c:legend>
    <c:plotVisOnly val="1"/>
    <c:dispBlanksAs val="span"/>
    <c:showDLblsOverMax val="1"/>
  </c:chart>
  <c:spPr>
    <a:solidFill>
      <a:srgbClr val="F5F3E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guided</c:v>
                </c:pt>
              </c:strCache>
            </c:strRef>
          </c:tx>
          <c:spPr>
            <a:solidFill>
              <a:srgbClr val="B9B5AC"/>
            </a:solidFill>
            <a:effectLst/>
          </c:spPr>
          <c:invertIfNegative val="0"/>
          <c:dLbls>
            <c:numFmt formatCode="0.0" sourceLinked="0"/>
            <c:spPr>
              <a:noFill/>
              <a:ln>
                <a:noFill/>
              </a:ln>
              <a:effectLst/>
            </c:spPr>
            <c:txPr>
              <a:bodyPr/>
              <a:lstStyle/>
              <a:p>
                <a:pPr>
                  <a:defRPr sz="850" b="0" i="0" u="none" strike="noStrike">
                    <a:solidFill>
                      <a:srgbClr val="3A3936"/>
                    </a:solidFill>
                    <a:latin typeface="IBM Plex Mon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plummer
4,096</c:v>
                </c:pt>
                <c:pt idx="1">
                  <c:v>collide
4,096</c:v>
                </c:pt>
                <c:pt idx="2">
                  <c:v>collapse
4,096</c:v>
                </c:pt>
                <c:pt idx="3">
                  <c:v>plummer
16,384</c:v>
                </c:pt>
                <c:pt idx="4">
                  <c:v>collide
16,384</c:v>
                </c:pt>
                <c:pt idx="5">
                  <c:v>collapse
16,384</c:v>
                </c:pt>
                <c:pt idx="6">
                  <c:v>plummer
65,536</c:v>
                </c:pt>
                <c:pt idx="7">
                  <c:v>collide
65,536</c:v>
                </c:pt>
                <c:pt idx="8">
                  <c:v>collapse
65,536</c:v>
                </c:pt>
              </c:strCache>
            </c:strRef>
          </c:cat>
          <c:val>
            <c:numRef>
              <c:f>Sheet1!$B$2:$B$10</c:f>
              <c:numCache>
                <c:formatCode>General</c:formatCode>
                <c:ptCount val="9"/>
                <c:pt idx="0">
                  <c:v>9.1042928059433699</c:v>
                </c:pt>
                <c:pt idx="1">
                  <c:v>14.043737066401896</c:v>
                </c:pt>
                <c:pt idx="2">
                  <c:v>18.241737008398072</c:v>
                </c:pt>
                <c:pt idx="3">
                  <c:v>17.684888310890813</c:v>
                </c:pt>
                <c:pt idx="4">
                  <c:v>14.267918512343359</c:v>
                </c:pt>
                <c:pt idx="5">
                  <c:v>5.336356202545578</c:v>
                </c:pt>
                <c:pt idx="6">
                  <c:v>11.373365563940707</c:v>
                </c:pt>
                <c:pt idx="7">
                  <c:v>11.363305193300043</c:v>
                </c:pt>
                <c:pt idx="8">
                  <c:v>5.7897104836996061</c:v>
                </c:pt>
              </c:numCache>
            </c:numRef>
          </c:val>
          <c:extLst>
            <c:ext xmlns:c16="http://schemas.microsoft.com/office/drawing/2014/chart" uri="{C3380CC4-5D6E-409C-BE32-E72D297353CC}">
              <c16:uniqueId val="{00000000-CC0D-46F2-A7D3-52F71FBDB46F}"/>
            </c:ext>
          </c:extLst>
        </c:ser>
        <c:ser>
          <c:idx val="1"/>
          <c:order val="1"/>
          <c:tx>
            <c:strRef>
              <c:f>Sheet1!$C$1</c:f>
              <c:strCache>
                <c:ptCount val="1"/>
                <c:pt idx="0">
                  <c:v>adaptive (ours)</c:v>
                </c:pt>
              </c:strCache>
            </c:strRef>
          </c:tx>
          <c:spPr>
            <a:solidFill>
              <a:srgbClr val="D9472B"/>
            </a:solidFill>
            <a:effectLst/>
          </c:spPr>
          <c:invertIfNegative val="0"/>
          <c:dLbls>
            <c:numFmt formatCode="0.0" sourceLinked="0"/>
            <c:spPr>
              <a:noFill/>
              <a:ln>
                <a:noFill/>
              </a:ln>
              <a:effectLst/>
            </c:spPr>
            <c:txPr>
              <a:bodyPr/>
              <a:lstStyle/>
              <a:p>
                <a:pPr>
                  <a:defRPr sz="850" b="0" i="0" u="none" strike="noStrike">
                    <a:solidFill>
                      <a:srgbClr val="3A3936"/>
                    </a:solidFill>
                    <a:latin typeface="IBM Plex Mono"/>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plummer
4,096</c:v>
                </c:pt>
                <c:pt idx="1">
                  <c:v>collide
4,096</c:v>
                </c:pt>
                <c:pt idx="2">
                  <c:v>collapse
4,096</c:v>
                </c:pt>
                <c:pt idx="3">
                  <c:v>plummer
16,384</c:v>
                </c:pt>
                <c:pt idx="4">
                  <c:v>collide
16,384</c:v>
                </c:pt>
                <c:pt idx="5">
                  <c:v>collapse
16,384</c:v>
                </c:pt>
                <c:pt idx="6">
                  <c:v>plummer
65,536</c:v>
                </c:pt>
                <c:pt idx="7">
                  <c:v>collide
65,536</c:v>
                </c:pt>
                <c:pt idx="8">
                  <c:v>collapse
65,536</c:v>
                </c:pt>
              </c:strCache>
            </c:strRef>
          </c:cat>
          <c:val>
            <c:numRef>
              <c:f>Sheet1!$C$2:$C$10</c:f>
              <c:numCache>
                <c:formatCode>General</c:formatCode>
                <c:ptCount val="9"/>
                <c:pt idx="0">
                  <c:v>14.362213311219907</c:v>
                </c:pt>
                <c:pt idx="1">
                  <c:v>11.308327148144704</c:v>
                </c:pt>
                <c:pt idx="2">
                  <c:v>16.560334062096338</c:v>
                </c:pt>
                <c:pt idx="3">
                  <c:v>5.8673617936605638</c:v>
                </c:pt>
                <c:pt idx="4">
                  <c:v>9.7613739140931521</c:v>
                </c:pt>
                <c:pt idx="5">
                  <c:v>6.5071337662551354</c:v>
                </c:pt>
                <c:pt idx="6">
                  <c:v>5.4541345808146513</c:v>
                </c:pt>
                <c:pt idx="7">
                  <c:v>5.9090981904519442</c:v>
                </c:pt>
                <c:pt idx="8">
                  <c:v>1.5198763089053213</c:v>
                </c:pt>
              </c:numCache>
            </c:numRef>
          </c:val>
          <c:extLst>
            <c:ext xmlns:c16="http://schemas.microsoft.com/office/drawing/2014/chart" uri="{C3380CC4-5D6E-409C-BE32-E72D297353CC}">
              <c16:uniqueId val="{00000001-CC0D-46F2-A7D3-52F71FBDB46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B9B5AC"/>
            </a:solidFill>
            <a:prstDash val="solid"/>
            <a:round/>
          </a:ln>
        </c:spPr>
        <c:txPr>
          <a:bodyPr/>
          <a:lstStyle/>
          <a:p>
            <a:pPr>
              <a:defRPr sz="900" b="0" i="0" u="none" strike="noStrike">
                <a:solidFill>
                  <a:srgbClr val="6B6862"/>
                </a:solidFill>
                <a:latin typeface="IBM Plex Mono"/>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6350" cap="flat">
              <a:solidFill>
                <a:srgbClr val="E4E1D9"/>
              </a:solidFill>
              <a:prstDash val="solid"/>
              <a:round/>
            </a:ln>
          </c:spPr>
        </c:majorGridlines>
        <c:title>
          <c:tx>
            <c:rich>
              <a:bodyPr/>
              <a:lstStyle/>
              <a:p>
                <a:pPr>
                  <a:defRPr sz="1000" b="0" i="0" u="none" strike="noStrike">
                    <a:solidFill>
                      <a:srgbClr val="6B6862"/>
                    </a:solidFill>
                    <a:latin typeface="IBM Plex Mono"/>
                  </a:defRPr>
                </a:pPr>
                <a:r>
                  <a:rPr sz="1000" b="0" i="0" u="none" strike="noStrike">
                    <a:solidFill>
                      <a:srgbClr val="6B6862"/>
                    </a:solidFill>
                    <a:latin typeface="IBM Plex Mono"/>
                  </a:rPr>
                  <a:t>time saved vs static [%]</a:t>
                </a:r>
              </a:p>
            </c:rich>
          </c:tx>
          <c:overlay val="0"/>
        </c:title>
        <c:numFmt formatCode="0" sourceLinked="0"/>
        <c:majorTickMark val="out"/>
        <c:minorTickMark val="none"/>
        <c:tickLblPos val="nextTo"/>
        <c:spPr>
          <a:ln w="12700" cap="flat">
            <a:noFill/>
            <a:prstDash val="solid"/>
            <a:round/>
          </a:ln>
        </c:spPr>
        <c:txPr>
          <a:bodyPr/>
          <a:lstStyle/>
          <a:p>
            <a:pPr>
              <a:defRPr sz="1000" b="0" i="0" u="none" strike="noStrike">
                <a:solidFill>
                  <a:srgbClr val="6B6862"/>
                </a:solidFill>
                <a:latin typeface="IBM Plex Mono"/>
              </a:defRPr>
            </a:pPr>
            <a:endParaRPr lang="en-US"/>
          </a:p>
        </c:txPr>
        <c:crossAx val="2094734554"/>
        <c:crosses val="autoZero"/>
        <c:crossBetween val="between"/>
        <c:majorUnit val="5"/>
      </c:valAx>
      <c:spPr>
        <a:solidFill>
          <a:srgbClr val="F5F3EE"/>
        </a:solidFill>
        <a:ln>
          <a:noFill/>
        </a:ln>
        <a:effectLst/>
      </c:spPr>
    </c:plotArea>
    <c:legend>
      <c:legendPos val="t"/>
      <c:overlay val="0"/>
      <c:txPr>
        <a:bodyPr/>
        <a:lstStyle/>
        <a:p>
          <a:pPr>
            <a:defRPr sz="1000">
              <a:solidFill>
                <a:srgbClr val="3A3936"/>
              </a:solidFill>
              <a:latin typeface="IBM Plex Mono"/>
              <a:cs typeface="IBM Plex Mono"/>
            </a:defRPr>
          </a:pPr>
          <a:endParaRPr lang="en-US"/>
        </a:p>
      </c:txPr>
    </c:legend>
    <c:plotVisOnly val="1"/>
    <c:dispBlanksAs val="span"/>
    <c:showDLblsOverMax val="1"/>
  </c:chart>
  <c:spPr>
    <a:solidFill>
      <a:srgbClr val="F5F3E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CPU direct, 8 threads</c:v>
                </c:pt>
              </c:strCache>
            </c:strRef>
          </c:tx>
          <c:spPr>
            <a:ln w="25400" cap="flat">
              <a:solidFill>
                <a:srgbClr val="8E8A82"/>
              </a:solidFill>
              <a:prstDash val="solid"/>
              <a:round/>
            </a:ln>
            <a:effectLst/>
          </c:spPr>
          <c:marker>
            <c:symbol val="circle"/>
            <c:size val="6"/>
            <c:spPr>
              <a:solidFill>
                <a:srgbClr val="8E8A82"/>
              </a:solidFill>
              <a:ln w="9525" cap="flat">
                <a:solidFill>
                  <a:srgbClr val="8E8A82"/>
                </a:solidFill>
                <a:prstDash val="solid"/>
                <a:round/>
              </a:ln>
              <a:effectLst/>
            </c:spPr>
          </c:marker>
          <c:cat>
            <c:strRef>
              <c:f>Sheet1!$A$2:$A$5</c:f>
              <c:strCache>
                <c:ptCount val="4"/>
                <c:pt idx="0">
                  <c:v>1,024</c:v>
                </c:pt>
                <c:pt idx="1">
                  <c:v>4,096</c:v>
                </c:pt>
                <c:pt idx="2">
                  <c:v>16,384</c:v>
                </c:pt>
                <c:pt idx="3">
                  <c:v>65,536</c:v>
                </c:pt>
              </c:strCache>
            </c:strRef>
          </c:cat>
          <c:val>
            <c:numRef>
              <c:f>Sheet1!$B$2:$B$5</c:f>
              <c:numCache>
                <c:formatCode>General</c:formatCode>
                <c:ptCount val="4"/>
                <c:pt idx="0">
                  <c:v>0.67800000000000005</c:v>
                </c:pt>
                <c:pt idx="1">
                  <c:v>6.6179999999999994</c:v>
                </c:pt>
                <c:pt idx="2">
                  <c:v>94.722999999999999</c:v>
                </c:pt>
                <c:pt idx="3">
                  <c:v>2116.9739999999997</c:v>
                </c:pt>
              </c:numCache>
            </c:numRef>
          </c:val>
          <c:smooth val="0"/>
          <c:extLst>
            <c:ext xmlns:c16="http://schemas.microsoft.com/office/drawing/2014/chart" uri="{C3380CC4-5D6E-409C-BE32-E72D297353CC}">
              <c16:uniqueId val="{00000000-9066-4036-9DA1-250002C388A9}"/>
            </c:ext>
          </c:extLst>
        </c:ser>
        <c:ser>
          <c:idx val="1"/>
          <c:order val="1"/>
          <c:tx>
            <c:strRef>
              <c:f>Sheet1!$C$1</c:f>
              <c:strCache>
                <c:ptCount val="1"/>
                <c:pt idx="0">
                  <c:v>GPU fp64</c:v>
                </c:pt>
              </c:strCache>
            </c:strRef>
          </c:tx>
          <c:spPr>
            <a:ln w="25400" cap="flat">
              <a:solidFill>
                <a:srgbClr val="B9B5AC"/>
              </a:solidFill>
              <a:prstDash val="solid"/>
              <a:round/>
            </a:ln>
            <a:effectLst/>
          </c:spPr>
          <c:marker>
            <c:symbol val="circle"/>
            <c:size val="6"/>
            <c:spPr>
              <a:solidFill>
                <a:srgbClr val="B9B5AC"/>
              </a:solidFill>
              <a:ln w="9525" cap="flat">
                <a:solidFill>
                  <a:srgbClr val="B9B5AC"/>
                </a:solidFill>
                <a:prstDash val="solid"/>
                <a:round/>
              </a:ln>
              <a:effectLst/>
            </c:spPr>
          </c:marker>
          <c:cat>
            <c:strRef>
              <c:f>Sheet1!$A$2:$A$5</c:f>
              <c:strCache>
                <c:ptCount val="4"/>
                <c:pt idx="0">
                  <c:v>1,024</c:v>
                </c:pt>
                <c:pt idx="1">
                  <c:v>4,096</c:v>
                </c:pt>
                <c:pt idx="2">
                  <c:v>16,384</c:v>
                </c:pt>
                <c:pt idx="3">
                  <c:v>65,536</c:v>
                </c:pt>
              </c:strCache>
            </c:strRef>
          </c:cat>
          <c:val>
            <c:numRef>
              <c:f>Sheet1!$C$2:$C$5</c:f>
              <c:numCache>
                <c:formatCode>General</c:formatCode>
                <c:ptCount val="4"/>
                <c:pt idx="0">
                  <c:v>2.8440000000000003</c:v>
                </c:pt>
                <c:pt idx="1">
                  <c:v>7.0670000000000002</c:v>
                </c:pt>
                <c:pt idx="2">
                  <c:v>55.105000000000004</c:v>
                </c:pt>
                <c:pt idx="3">
                  <c:v>730.3420000000001</c:v>
                </c:pt>
              </c:numCache>
            </c:numRef>
          </c:val>
          <c:smooth val="0"/>
          <c:extLst>
            <c:ext xmlns:c16="http://schemas.microsoft.com/office/drawing/2014/chart" uri="{C3380CC4-5D6E-409C-BE32-E72D297353CC}">
              <c16:uniqueId val="{00000001-9066-4036-9DA1-250002C388A9}"/>
            </c:ext>
          </c:extLst>
        </c:ser>
        <c:ser>
          <c:idx val="2"/>
          <c:order val="2"/>
          <c:tx>
            <c:strRef>
              <c:f>Sheet1!$D$1</c:f>
              <c:strCache>
                <c:ptCount val="1"/>
                <c:pt idx="0">
                  <c:v>GPU fp32</c:v>
                </c:pt>
              </c:strCache>
            </c:strRef>
          </c:tx>
          <c:spPr>
            <a:ln w="25400" cap="flat">
              <a:solidFill>
                <a:srgbClr val="D9472B"/>
              </a:solidFill>
              <a:prstDash val="solid"/>
              <a:round/>
            </a:ln>
            <a:effectLst/>
          </c:spPr>
          <c:marker>
            <c:symbol val="circle"/>
            <c:size val="6"/>
            <c:spPr>
              <a:solidFill>
                <a:srgbClr val="D9472B"/>
              </a:solidFill>
              <a:ln w="9525" cap="flat">
                <a:solidFill>
                  <a:srgbClr val="D9472B"/>
                </a:solidFill>
                <a:prstDash val="solid"/>
                <a:round/>
              </a:ln>
              <a:effectLst/>
            </c:spPr>
          </c:marker>
          <c:cat>
            <c:strRef>
              <c:f>Sheet1!$A$2:$A$5</c:f>
              <c:strCache>
                <c:ptCount val="4"/>
                <c:pt idx="0">
                  <c:v>1,024</c:v>
                </c:pt>
                <c:pt idx="1">
                  <c:v>4,096</c:v>
                </c:pt>
                <c:pt idx="2">
                  <c:v>16,384</c:v>
                </c:pt>
                <c:pt idx="3">
                  <c:v>65,536</c:v>
                </c:pt>
              </c:strCache>
            </c:strRef>
          </c:cat>
          <c:val>
            <c:numRef>
              <c:f>Sheet1!$D$2:$D$5</c:f>
              <c:numCache>
                <c:formatCode>General</c:formatCode>
                <c:ptCount val="4"/>
                <c:pt idx="0">
                  <c:v>0.51700000000000002</c:v>
                </c:pt>
                <c:pt idx="1">
                  <c:v>1.17</c:v>
                </c:pt>
                <c:pt idx="2">
                  <c:v>3.0990000000000002</c:v>
                </c:pt>
                <c:pt idx="3">
                  <c:v>24.044</c:v>
                </c:pt>
              </c:numCache>
            </c:numRef>
          </c:val>
          <c:smooth val="0"/>
          <c:extLst>
            <c:ext xmlns:c16="http://schemas.microsoft.com/office/drawing/2014/chart" uri="{C3380CC4-5D6E-409C-BE32-E72D297353CC}">
              <c16:uniqueId val="{00000002-9066-4036-9DA1-250002C388A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B6862"/>
                    </a:solidFill>
                    <a:latin typeface="IBM Plex Mono"/>
                  </a:defRPr>
                </a:pPr>
                <a:r>
                  <a:rPr sz="1000" b="0" i="0" u="none" strike="noStrike">
                    <a:solidFill>
                      <a:srgbClr val="6B6862"/>
                    </a:solidFill>
                    <a:latin typeface="IBM Plex Mono"/>
                  </a:rPr>
                  <a:t>N</a:t>
                </a:r>
              </a:p>
            </c:rich>
          </c:tx>
          <c:overlay val="0"/>
        </c:title>
        <c:numFmt formatCode="General" sourceLinked="1"/>
        <c:majorTickMark val="out"/>
        <c:minorTickMark val="none"/>
        <c:tickLblPos val="low"/>
        <c:spPr>
          <a:ln w="12700" cap="flat">
            <a:solidFill>
              <a:srgbClr val="B9B5AC"/>
            </a:solidFill>
            <a:prstDash val="solid"/>
            <a:round/>
          </a:ln>
        </c:spPr>
        <c:txPr>
          <a:bodyPr/>
          <a:lstStyle/>
          <a:p>
            <a:pPr>
              <a:defRPr sz="1000" b="0" i="0" u="none" strike="noStrike">
                <a:solidFill>
                  <a:srgbClr val="6B6862"/>
                </a:solidFill>
                <a:latin typeface="IBM Plex Mono"/>
              </a:defRPr>
            </a:pPr>
            <a:endParaRPr lang="en-US"/>
          </a:p>
        </c:txPr>
        <c:crossAx val="2094734552"/>
        <c:crosses val="autoZero"/>
        <c:auto val="1"/>
        <c:lblAlgn val="ctr"/>
        <c:lblOffset val="100"/>
        <c:noMultiLvlLbl val="1"/>
      </c:catAx>
      <c:valAx>
        <c:axId val="2094734552"/>
        <c:scaling>
          <c:logBase val="10"/>
          <c:orientation val="minMax"/>
          <c:max val="10000"/>
          <c:min val="0.1"/>
        </c:scaling>
        <c:delete val="0"/>
        <c:axPos val="l"/>
        <c:majorGridlines>
          <c:spPr>
            <a:ln w="6350" cap="flat">
              <a:solidFill>
                <a:srgbClr val="E4E1D9"/>
              </a:solidFill>
              <a:prstDash val="solid"/>
              <a:round/>
            </a:ln>
          </c:spPr>
        </c:majorGridlines>
        <c:title>
          <c:tx>
            <c:rich>
              <a:bodyPr/>
              <a:lstStyle/>
              <a:p>
                <a:pPr>
                  <a:defRPr sz="1000" b="0" i="0" u="none" strike="noStrike">
                    <a:solidFill>
                      <a:srgbClr val="6B6862"/>
                    </a:solidFill>
                    <a:latin typeface="IBM Plex Mono"/>
                  </a:defRPr>
                </a:pPr>
                <a:r>
                  <a:rPr sz="1000" b="0" i="0" u="none" strike="noStrike">
                    <a:solidFill>
                      <a:srgbClr val="6B6862"/>
                    </a:solidFill>
                    <a:latin typeface="IBM Plex Mono"/>
                  </a:rPr>
                  <a:t>ms per step (log)</a:t>
                </a:r>
              </a:p>
            </c:rich>
          </c:tx>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6B6862"/>
                </a:solidFill>
                <a:latin typeface="IBM Plex Mono"/>
              </a:defRPr>
            </a:pPr>
            <a:endParaRPr lang="en-US"/>
          </a:p>
        </c:txPr>
        <c:crossAx val="2094734554"/>
        <c:crosses val="autoZero"/>
        <c:crossBetween val="between"/>
      </c:valAx>
      <c:spPr>
        <a:solidFill>
          <a:srgbClr val="F5F3EE"/>
        </a:solidFill>
        <a:ln>
          <a:noFill/>
        </a:ln>
        <a:effectLst/>
      </c:spPr>
    </c:plotArea>
    <c:legend>
      <c:legendPos val="t"/>
      <c:overlay val="0"/>
      <c:txPr>
        <a:bodyPr/>
        <a:lstStyle/>
        <a:p>
          <a:pPr>
            <a:defRPr sz="1000">
              <a:solidFill>
                <a:srgbClr val="3A3936"/>
              </a:solidFill>
              <a:latin typeface="IBM Plex Mono"/>
              <a:cs typeface="IBM Plex Mono"/>
            </a:defRPr>
          </a:pPr>
          <a:endParaRPr lang="en-US"/>
        </a:p>
      </c:txPr>
    </c:legend>
    <c:plotVisOnly val="1"/>
    <c:dispBlanksAs val="span"/>
    <c:showDLblsOverMax val="1"/>
  </c:chart>
  <c:spPr>
    <a:solidFill>
      <a:srgbClr val="F5F3E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6710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a gravity simulation parallelised at three levels, plus a controller that changes how OpenMP shares work when the work becomes uneven.
The image is our own simulation after a cloud collapsed; vermilion stars are the ones computed by the single busiest thread.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N-body step needs the gravitational force on every body; done exactly that is N squared pairs, which is why we use the Barnes-Hut tree. Its cost per body depends on how dense the neighbourhood is.
Because we sort bodies along a Morton curve, a static schedule hands each thread one region of space. In this frame thread T2 owns part of the dense core and takes 3.7 times as long as the lightest thread, so seven threads wait.
Demo option: open results/presentation.html (section 2) and play the animation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objectives from our synopsis. O1 gave correct sequential baselines, O2 the OpenMP loop and the three built-in schedules, O3 the MPI decomposition and the CUDA kernels, O4 the adaptive controller.
The last row is what we added because the measurements required it; slide 04 explains the controller correction.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 row left to right: that is one timestep. Every rank holds the full state, sorts it and builds the same tree, then computes forces only for its own block.
Inside a rank the force loop is an OpenMP loop with schedule(runtime), so the controller can change the schedule between steps without recompiling.
The GPU either computes all pairs with a tiled kernel, or takes the near-field pairs that the CPU tree walk collected.
Live option (needs internet): results/web/viewer.html shows the thread ownership in 3D.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five steps the controller looks at how long each thread spent in the force loop and computes lambda, the slowest thread relative to the average. Above 0.15 it switches to dynamic; below 0.05 it switches back. Two thresholds stop it flipping on noise.
The synopsis algorithm measured lambda directly in both states. Under dynamic that is always near zero, so it would oscillate. We predict what static would cost from each thread's measured speed and the work in its static block.
Live demo: python demo.py --part 2 shows lambda rising and the switch.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measurements are medians of three repetitions run in shuffled order, so slow drift affects every schedule equally. Threads are pinned to the eight performance cores because the slower efficiency cores alone produced lambda of about 0.3 on a balanced job.
Later experiments ran behind a thermal gate after we saw the laptop throttle; throttled data is kept in results/archive.
Correctness: the final state is bit-identical for every configuration. Live option: python demo.py --part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benchmark run of the collapsing cloud. The dark line is the imbalance implied by counted work: almost zero while the cloud is uniform, then up to 0.64 once the core forms after t = 1.
Grey is what static actually measured; vermilion is the adaptive run. Its controller reacted briefly to a noise spike at t = 0.41 and the 0.05 threshold sent it back, then switched for good at t = 1.16, after which its measured imbalance stays near zero.
Live option: results/presentation.html, section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bars is one clustered case at 8 threads: how much run time each schedule saves compared with static. Adaptive is faster than static in all nine cases, between 1.5 and 16.6 percent.
On the uniform input it stays within 2.3 percent of static, which is what the synopsis predicted, and it avoids the 46 percent penalty that dynamic pays on a small balanced job.
Guided was the best fixed schedule in nine of twelve cases; we say so plainly and discuss why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GPU, the tiled kernel computes the exact all-pairs force 88 times faster than eight CPU threads in single precision; double precision is slow on this laptop GPU. The Barnes-Hut hybrid gains 1.3 to 1.4 times.
Limitations: guided is the strongest fixed schedule here, a time-based trigger can react to noise, and the OpenMP controller cannot fix imbalance between MPI ranks.
Vishal implemented two next steps already: cost-weighted rank partitioning and an auto mode that tries dynamic and guided.
Live option: python demo.py --part 4 runs the GPU comparison.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Have results/presentation.html open in a browser tab and the demo terminal ready in case the professor wants to see a run again.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rtlCol="0"/>
          <a:lstStyle>
            <a:lvl1pPr marL="0" indent="0" algn="l">
              <a:buNone/>
              <a:defRPr lang="en-US" sz="1000" kern="0" spc="150" dirty="0">
                <a:solidFill>
                  <a:srgbClr val="6B6862"/>
                </a:solidFill>
                <a:latin typeface="IBM Plex Mono" pitchFamily="34" charset="0"/>
                <a:ea typeface="IBM Plex Mono" pitchFamily="34" charset="-122"/>
                <a:cs typeface="IBM Plex Mono" pitchFamily="34" charset="-120"/>
              </a:defRPr>
            </a:lvl1pPr>
          </a:lstStyle>
          <a:p>
            <a:pPr marL="0" indent="0" algn="l">
              <a:buNone/>
            </a:pP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rtlCol="0"/>
          <a:lstStyle>
            <a:lvl1pPr marL="0" indent="0" algn="l">
              <a:lnSpc>
                <a:spcPct val="95000"/>
              </a:lnSpc>
              <a:buNone/>
              <a:defRPr lang="en-US" sz="3000" b="1" dirty="0">
                <a:solidFill>
                  <a:srgbClr val="111111"/>
                </a:solidFill>
                <a:latin typeface="IBM Plex Sans" pitchFamily="34" charset="0"/>
                <a:ea typeface="IBM Plex Sans" pitchFamily="34" charset="-122"/>
                <a:cs typeface="IBM Plex Sans" pitchFamily="34" charset="-120"/>
              </a:defRPr>
            </a:lvl1pPr>
          </a:lstStyle>
          <a:p>
            <a:pPr marL="0" indent="0" algn="l">
              <a:lnSpc>
                <a:spcPct val="95000"/>
              </a:lnSpc>
              <a:buNone/>
            </a:pP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rtlCol="0"/>
          <a:lstStyle>
            <a:lvl1pPr marL="0" indent="0" algn="l">
              <a:buNone/>
              <a:defRPr lang="en-US" sz="1500" dirty="0">
                <a:solidFill>
                  <a:srgbClr val="6B6862"/>
                </a:solidFill>
                <a:latin typeface="IBM Plex Sans" pitchFamily="34" charset="0"/>
                <a:ea typeface="IBM Plex Sans" pitchFamily="34" charset="-122"/>
                <a:cs typeface="IBM Plex Sans" pitchFamily="34" charset="-120"/>
              </a:defRPr>
            </a:lvl1pPr>
          </a:lstStyle>
          <a:p>
            <a:pPr marL="0" indent="0" algn="l">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imulated star cloud after collapse; bodies computed by the busiest thread shown in vermilion"/>
          <p:cNvPicPr>
            <a:picLocks noChangeAspect="1"/>
          </p:cNvPicPr>
          <p:nvPr/>
        </p:nvPicPr>
        <p:blipFill>
          <a:blip r:embed="rId3"/>
          <a:stretch>
            <a:fillRect/>
          </a:stretch>
        </p:blipFill>
        <p:spPr>
          <a:xfrm>
            <a:off x="5333695" y="0"/>
            <a:ext cx="6858000" cy="6858000"/>
          </a:xfrm>
          <a:prstGeom prst="rect">
            <a:avLst/>
          </a:prstGeom>
        </p:spPr>
      </p:pic>
      <p:sp>
        <p:nvSpPr>
          <p:cNvPr id="3" name="Text 0"/>
          <p:cNvSpPr txBox="1"/>
          <p:nvPr/>
        </p:nvSpPr>
        <p:spPr>
          <a:xfrm>
            <a:off x="685800" y="685800"/>
            <a:ext cx="4480560" cy="274320"/>
          </a:xfrm>
          <a:prstGeom prst="rect">
            <a:avLst/>
          </a:prstGeom>
          <a:noFill/>
          <a:ln/>
        </p:spPr>
        <p:txBody>
          <a:bodyPr wrap="square" lIns="0" tIns="0" rIns="0" bIns="0" rtlCol="0" anchor="t"/>
          <a:lstStyle/>
          <a:p>
            <a:pPr marL="0" indent="0">
              <a:buNone/>
            </a:pPr>
            <a:r>
              <a:rPr lang="en-US" sz="1000" kern="0" spc="150" dirty="0">
                <a:solidFill>
                  <a:srgbClr val="B9B5AC"/>
                </a:solidFill>
                <a:latin typeface="IBM Plex Mono" pitchFamily="34" charset="0"/>
                <a:ea typeface="IBM Plex Mono" pitchFamily="34" charset="-122"/>
                <a:cs typeface="IBM Plex Mono" pitchFamily="34" charset="-120"/>
              </a:rPr>
              <a:t>PCAP  ·  COURSE PROJECT</a:t>
            </a:r>
            <a:endParaRPr lang="en-US" sz="1000" dirty="0"/>
          </a:p>
        </p:txBody>
      </p:sp>
      <p:sp>
        <p:nvSpPr>
          <p:cNvPr id="4" name="Text 1"/>
          <p:cNvSpPr txBox="1"/>
          <p:nvPr/>
        </p:nvSpPr>
        <p:spPr>
          <a:xfrm>
            <a:off x="685800" y="1097280"/>
            <a:ext cx="4480560" cy="2011680"/>
          </a:xfrm>
          <a:prstGeom prst="rect">
            <a:avLst/>
          </a:prstGeom>
          <a:noFill/>
          <a:ln/>
        </p:spPr>
        <p:txBody>
          <a:bodyPr wrap="square" lIns="0" tIns="0" rIns="0" bIns="0" rtlCol="0" anchor="t"/>
          <a:lstStyle/>
          <a:p>
            <a:pPr marL="0" indent="0">
              <a:lnSpc>
                <a:spcPct val="95000"/>
              </a:lnSpc>
              <a:buNone/>
            </a:pPr>
            <a:r>
              <a:rPr lang="en-US" sz="3200" b="1" dirty="0">
                <a:solidFill>
                  <a:srgbClr val="F5F3EE"/>
                </a:solidFill>
                <a:latin typeface="IBM Plex Sans" pitchFamily="34" charset="0"/>
                <a:ea typeface="IBM Plex Sans" pitchFamily="34" charset="-122"/>
                <a:cs typeface="IBM Plex Sans" pitchFamily="34" charset="-120"/>
              </a:rPr>
              <a:t>Adaptive Scheduling for Load-Balanced Parallel N-Body Simulation</a:t>
            </a:r>
            <a:endParaRPr lang="en-US" sz="3200" dirty="0"/>
          </a:p>
        </p:txBody>
      </p:sp>
      <p:sp>
        <p:nvSpPr>
          <p:cNvPr id="5" name="Text 2"/>
          <p:cNvSpPr txBox="1"/>
          <p:nvPr/>
        </p:nvSpPr>
        <p:spPr>
          <a:xfrm>
            <a:off x="685800" y="3200400"/>
            <a:ext cx="4297680" cy="914400"/>
          </a:xfrm>
          <a:prstGeom prst="rect">
            <a:avLst/>
          </a:prstGeom>
          <a:noFill/>
          <a:ln/>
        </p:spPr>
        <p:txBody>
          <a:bodyPr wrap="square" lIns="0" tIns="0" rIns="0" bIns="0" rtlCol="0" anchor="t"/>
          <a:lstStyle/>
          <a:p>
            <a:pPr marL="0" indent="0">
              <a:buNone/>
            </a:pPr>
            <a:r>
              <a:rPr lang="en-US" sz="1400" dirty="0">
                <a:solidFill>
                  <a:srgbClr val="B9B5AC"/>
                </a:solidFill>
                <a:latin typeface="IBM Plex Sans" pitchFamily="34" charset="0"/>
                <a:ea typeface="IBM Plex Sans" pitchFamily="34" charset="-122"/>
                <a:cs typeface="IBM Plex Sans" pitchFamily="34" charset="-120"/>
              </a:rPr>
              <a:t>A hybrid MPI–OpenMP–CUDA Barnes–Hut simulator that chooses its OpenMP loop schedule at run time from measured thread imbalance</a:t>
            </a:r>
            <a:endParaRPr lang="en-US" sz="1400" dirty="0"/>
          </a:p>
        </p:txBody>
      </p:sp>
      <p:sp>
        <p:nvSpPr>
          <p:cNvPr id="6" name="Shape 3"/>
          <p:cNvSpPr/>
          <p:nvPr/>
        </p:nvSpPr>
        <p:spPr>
          <a:xfrm>
            <a:off x="685800" y="4343400"/>
            <a:ext cx="4297680" cy="0"/>
          </a:xfrm>
          <a:prstGeom prst="line">
            <a:avLst/>
          </a:prstGeom>
          <a:noFill/>
          <a:ln w="9525">
            <a:solidFill>
              <a:srgbClr val="3A3936"/>
            </a:solidFill>
            <a:prstDash val="solid"/>
          </a:ln>
        </p:spPr>
      </p:sp>
      <p:sp>
        <p:nvSpPr>
          <p:cNvPr id="7" name="Text 4"/>
          <p:cNvSpPr txBox="1"/>
          <p:nvPr/>
        </p:nvSpPr>
        <p:spPr>
          <a:xfrm>
            <a:off x="685800" y="4480560"/>
            <a:ext cx="4297680" cy="960120"/>
          </a:xfrm>
          <a:prstGeom prst="rect">
            <a:avLst/>
          </a:prstGeom>
          <a:noFill/>
          <a:ln/>
        </p:spPr>
        <p:txBody>
          <a:bodyPr wrap="square" lIns="0" tIns="0" rIns="0" bIns="0" rtlCol="0" anchor="t"/>
          <a:lstStyle/>
          <a:p>
            <a:pPr marL="0" indent="0">
              <a:lnSpc>
                <a:spcPct val="115000"/>
              </a:lnSpc>
              <a:buNone/>
            </a:pPr>
            <a:r>
              <a:rPr lang="en-US" sz="1100" dirty="0">
                <a:solidFill>
                  <a:srgbClr val="F5F3EE"/>
                </a:solidFill>
                <a:latin typeface="IBM Plex Mono" pitchFamily="34" charset="0"/>
                <a:ea typeface="IBM Plex Mono" pitchFamily="34" charset="-122"/>
                <a:cs typeface="IBM Plex Mono" pitchFamily="34" charset="-120"/>
              </a:rPr>
              <a:t>Tanish Hemant Kuvar</a:t>
            </a:r>
            <a:r>
              <a:rPr lang="en-US" sz="1100" dirty="0">
                <a:solidFill>
                  <a:srgbClr val="B9B5AC"/>
                </a:solidFill>
                <a:latin typeface="IBM Plex Mono" pitchFamily="34" charset="0"/>
                <a:ea typeface="IBM Plex Mono" pitchFamily="34" charset="-122"/>
                <a:cs typeface="IBM Plex Mono" pitchFamily="34" charset="-120"/>
              </a:rPr>
              <a:t>   240962540</a:t>
            </a:r>
            <a:endParaRPr lang="en-US" sz="1100" dirty="0"/>
          </a:p>
          <a:p>
            <a:pPr marL="0" indent="0">
              <a:lnSpc>
                <a:spcPct val="115000"/>
              </a:lnSpc>
              <a:buNone/>
            </a:pPr>
            <a:r>
              <a:rPr lang="en-US" sz="1100" dirty="0">
                <a:solidFill>
                  <a:srgbClr val="F5F3EE"/>
                </a:solidFill>
                <a:latin typeface="IBM Plex Mono" pitchFamily="34" charset="0"/>
                <a:ea typeface="IBM Plex Mono" pitchFamily="34" charset="-122"/>
                <a:cs typeface="IBM Plex Mono" pitchFamily="34" charset="-120"/>
              </a:rPr>
              <a:t>M. Vishal Kumar</a:t>
            </a:r>
            <a:r>
              <a:rPr lang="en-US" sz="1100" dirty="0">
                <a:solidFill>
                  <a:srgbClr val="B9B5AC"/>
                </a:solidFill>
                <a:latin typeface="IBM Plex Mono" pitchFamily="34" charset="0"/>
                <a:ea typeface="IBM Plex Mono" pitchFamily="34" charset="-122"/>
                <a:cs typeface="IBM Plex Mono" pitchFamily="34" charset="-120"/>
              </a:rPr>
              <a:t>       240962546</a:t>
            </a:r>
            <a:endParaRPr lang="en-US" sz="1100" dirty="0"/>
          </a:p>
          <a:p>
            <a:pPr marL="0" indent="0">
              <a:lnSpc>
                <a:spcPct val="115000"/>
              </a:lnSpc>
              <a:buNone/>
            </a:pPr>
            <a:r>
              <a:rPr lang="en-US" sz="1100" dirty="0">
                <a:solidFill>
                  <a:srgbClr val="F5F3EE"/>
                </a:solidFill>
                <a:latin typeface="IBM Plex Mono" pitchFamily="34" charset="0"/>
                <a:ea typeface="IBM Plex Mono" pitchFamily="34" charset="-122"/>
                <a:cs typeface="IBM Plex Mono" pitchFamily="34" charset="-120"/>
              </a:rPr>
              <a:t>Samyak Jain</a:t>
            </a:r>
            <a:r>
              <a:rPr lang="en-US" sz="1100" dirty="0">
                <a:solidFill>
                  <a:srgbClr val="B9B5AC"/>
                </a:solidFill>
                <a:latin typeface="IBM Plex Mono" pitchFamily="34" charset="0"/>
                <a:ea typeface="IBM Plex Mono" pitchFamily="34" charset="-122"/>
                <a:cs typeface="IBM Plex Mono" pitchFamily="34" charset="-120"/>
              </a:rPr>
              <a:t>           240962638</a:t>
            </a:r>
            <a:endParaRPr lang="en-US" sz="1100" dirty="0"/>
          </a:p>
          <a:p>
            <a:pPr marL="0" indent="0">
              <a:lnSpc>
                <a:spcPct val="115000"/>
              </a:lnSpc>
              <a:buNone/>
            </a:pPr>
            <a:r>
              <a:rPr lang="en-US" sz="1100" dirty="0">
                <a:solidFill>
                  <a:srgbClr val="B9B5AC"/>
                </a:solidFill>
                <a:latin typeface="IBM Plex Mono" pitchFamily="34" charset="0"/>
                <a:ea typeface="IBM Plex Mono" pitchFamily="34" charset="-122"/>
                <a:cs typeface="IBM Plex Mono" pitchFamily="34" charset="-120"/>
              </a:rPr>
              <a:t>AIML-A</a:t>
            </a:r>
            <a:endParaRPr lang="en-US" sz="1100" dirty="0"/>
          </a:p>
        </p:txBody>
      </p:sp>
      <p:sp>
        <p:nvSpPr>
          <p:cNvPr id="8" name="Text 5"/>
          <p:cNvSpPr txBox="1"/>
          <p:nvPr/>
        </p:nvSpPr>
        <p:spPr>
          <a:xfrm>
            <a:off x="685800" y="5486400"/>
            <a:ext cx="4572000" cy="960120"/>
          </a:xfrm>
          <a:prstGeom prst="rect">
            <a:avLst/>
          </a:prstGeom>
          <a:noFill/>
          <a:ln/>
        </p:spPr>
        <p:txBody>
          <a:bodyPr wrap="square" lIns="0" tIns="0" rIns="0" bIns="0" rtlCol="0" anchor="t"/>
          <a:lstStyle/>
          <a:p>
            <a:pPr marL="0" indent="0">
              <a:lnSpc>
                <a:spcPct val="115000"/>
              </a:lnSpc>
              <a:buNone/>
            </a:pPr>
            <a:r>
              <a:rPr lang="en-US" sz="900" dirty="0">
                <a:solidFill>
                  <a:srgbClr val="B9B5AC"/>
                </a:solidFill>
                <a:latin typeface="IBM Plex Mono" pitchFamily="34" charset="0"/>
                <a:ea typeface="IBM Plex Mono" pitchFamily="34" charset="-122"/>
                <a:cs typeface="IBM Plex Mono" pitchFamily="34" charset="-120"/>
              </a:rPr>
              <a:t>Guide        [GUIDE / FACULTY NAME]</a:t>
            </a:r>
            <a:endParaRPr lang="en-US" sz="900" dirty="0"/>
          </a:p>
          <a:p>
            <a:pPr marL="0" indent="0">
              <a:lnSpc>
                <a:spcPct val="115000"/>
              </a:lnSpc>
              <a:buNone/>
            </a:pPr>
            <a:r>
              <a:rPr lang="en-US" sz="900" dirty="0">
                <a:solidFill>
                  <a:srgbClr val="B9B5AC"/>
                </a:solidFill>
                <a:latin typeface="IBM Plex Mono" pitchFamily="34" charset="0"/>
                <a:ea typeface="IBM Plex Mono" pitchFamily="34" charset="-122"/>
                <a:cs typeface="IBM Plex Mono" pitchFamily="34" charset="-120"/>
              </a:rPr>
              <a:t>Institution  [INSTITUTION]</a:t>
            </a:r>
            <a:endParaRPr lang="en-US" sz="900" dirty="0"/>
          </a:p>
          <a:p>
            <a:pPr marL="0" indent="0">
              <a:lnSpc>
                <a:spcPct val="115000"/>
              </a:lnSpc>
              <a:buNone/>
            </a:pPr>
            <a:r>
              <a:rPr lang="en-US" sz="900" dirty="0">
                <a:solidFill>
                  <a:srgbClr val="B9B5AC"/>
                </a:solidFill>
                <a:latin typeface="IBM Plex Mono" pitchFamily="34" charset="0"/>
                <a:ea typeface="IBM Plex Mono" pitchFamily="34" charset="-122"/>
                <a:cs typeface="IBM Plex Mono" pitchFamily="34" charset="-120"/>
              </a:rPr>
              <a:t>Parallel Computing Architecture and Programming  ·  [COURSE CODE]</a:t>
            </a:r>
            <a:endParaRPr lang="en-US" sz="900" dirty="0"/>
          </a:p>
          <a:p>
            <a:pPr marL="0" indent="0">
              <a:lnSpc>
                <a:spcPct val="115000"/>
              </a:lnSpc>
              <a:buNone/>
            </a:pPr>
            <a:r>
              <a:rPr lang="en-US" sz="900" dirty="0">
                <a:solidFill>
                  <a:srgbClr val="B9B5AC"/>
                </a:solidFill>
                <a:latin typeface="IBM Plex Mono" pitchFamily="34" charset="0"/>
                <a:ea typeface="IBM Plex Mono" pitchFamily="34" charset="-122"/>
                <a:cs typeface="IBM Plex Mono" pitchFamily="34" charset="-120"/>
              </a:rPr>
              <a:t>27 October 2026</a:t>
            </a:r>
            <a:endParaRPr lang="en-US" sz="900" dirty="0"/>
          </a:p>
        </p:txBody>
      </p:sp>
      <p:sp>
        <p:nvSpPr>
          <p:cNvPr id="9" name="Text 6"/>
          <p:cNvSpPr txBox="1"/>
          <p:nvPr/>
        </p:nvSpPr>
        <p:spPr>
          <a:xfrm>
            <a:off x="6492240" y="6473952"/>
            <a:ext cx="5010912" cy="228600"/>
          </a:xfrm>
          <a:prstGeom prst="rect">
            <a:avLst/>
          </a:prstGeom>
          <a:noFill/>
          <a:ln/>
        </p:spPr>
        <p:txBody>
          <a:bodyPr wrap="square" lIns="0" tIns="0" rIns="0" bIns="0" rtlCol="0" anchor="t"/>
          <a:lstStyle/>
          <a:p>
            <a:pPr marL="0" indent="0" algn="r">
              <a:buNone/>
            </a:pPr>
            <a:r>
              <a:rPr lang="en-US" sz="800" dirty="0">
                <a:solidFill>
                  <a:srgbClr val="8E8A82"/>
                </a:solidFill>
                <a:latin typeface="IBM Plex Mono" pitchFamily="34" charset="0"/>
                <a:ea typeface="IBM Plex Mono" pitchFamily="34" charset="-122"/>
                <a:cs typeface="IBM Plex Mono" pitchFamily="34" charset="-120"/>
              </a:rPr>
              <a:t>Cold collapse, N = 32,768, t = 1.50  ·  vermilion: bodies of the busiest thread</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01</a:t>
            </a:r>
            <a:r>
              <a:rPr lang="en-US" sz="1000" kern="0" spc="150" dirty="0">
                <a:solidFill>
                  <a:srgbClr val="6B6862"/>
                </a:solidFill>
                <a:latin typeface="IBM Plex Mono" pitchFamily="34" charset="0"/>
                <a:ea typeface="IBM Plex Mono" pitchFamily="34" charset="-122"/>
                <a:cs typeface="IBM Plex Mono" pitchFamily="34" charset="-120"/>
              </a:rPr>
              <a:t>  —  PROBLEM</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Clustering turns equal shares of bodies into unequal shares of work</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With a static schedule, the thread that owns the dense core sets the pace for all eight.</a:t>
            </a:r>
            <a:endParaRPr lang="en-US" sz="1500" dirty="0"/>
          </a:p>
        </p:txBody>
      </p:sp>
      <p:pic>
        <p:nvPicPr>
          <p:cNvPr id="5" name="Image 0" descr="Collapsed star cloud; the busiest thread's bodies form one block of the core"/>
          <p:cNvPicPr>
            <a:picLocks noChangeAspect="1"/>
          </p:cNvPicPr>
          <p:nvPr/>
        </p:nvPicPr>
        <p:blipFill>
          <a:blip r:embed="rId3"/>
          <a:stretch>
            <a:fillRect/>
          </a:stretch>
        </p:blipFill>
        <p:spPr>
          <a:xfrm>
            <a:off x="685800" y="2514600"/>
            <a:ext cx="3383280" cy="3383280"/>
          </a:xfrm>
          <a:prstGeom prst="rect">
            <a:avLst/>
          </a:prstGeom>
        </p:spPr>
      </p:pic>
      <p:sp>
        <p:nvSpPr>
          <p:cNvPr id="6" name="Text 3"/>
          <p:cNvSpPr txBox="1"/>
          <p:nvPr/>
        </p:nvSpPr>
        <p:spPr>
          <a:xfrm>
            <a:off x="685800" y="5943600"/>
            <a:ext cx="3611880" cy="347472"/>
          </a:xfrm>
          <a:prstGeom prst="rect">
            <a:avLst/>
          </a:prstGeom>
          <a:noFill/>
          <a:ln/>
        </p:spPr>
        <p:txBody>
          <a:bodyPr wrap="square" lIns="0" tIns="0" rIns="0" bIns="0" rtlCol="0" anchor="t"/>
          <a:lstStyle/>
          <a:p>
            <a:pPr marL="0" indent="0">
              <a:buNone/>
            </a:pPr>
            <a:r>
              <a:rPr lang="en-US" sz="800" dirty="0">
                <a:solidFill>
                  <a:srgbClr val="6B6862"/>
                </a:solidFill>
                <a:latin typeface="IBM Plex Mono" pitchFamily="34" charset="0"/>
                <a:ea typeface="IBM Plex Mono" pitchFamily="34" charset="-122"/>
                <a:cs typeface="IBM Plex Mono" pitchFamily="34" charset="-120"/>
              </a:rPr>
              <a:t>Cold collapse, N = 32,768, 8 threads, static, t = 1.50. Vermilion: bodies computed by thread T2.</a:t>
            </a:r>
            <a:endParaRPr lang="en-US" sz="800" dirty="0"/>
          </a:p>
        </p:txBody>
      </p:sp>
      <p:sp>
        <p:nvSpPr>
          <p:cNvPr id="7" name="Shape 4"/>
          <p:cNvSpPr/>
          <p:nvPr/>
        </p:nvSpPr>
        <p:spPr>
          <a:xfrm>
            <a:off x="4709160" y="2514600"/>
            <a:ext cx="3566160" cy="0"/>
          </a:xfrm>
          <a:prstGeom prst="line">
            <a:avLst/>
          </a:prstGeom>
          <a:noFill/>
          <a:ln w="9525">
            <a:solidFill>
              <a:srgbClr val="D9D5CC"/>
            </a:solidFill>
            <a:prstDash val="solid"/>
          </a:ln>
        </p:spPr>
      </p:sp>
      <p:sp>
        <p:nvSpPr>
          <p:cNvPr id="8" name="Text 5"/>
          <p:cNvSpPr txBox="1"/>
          <p:nvPr/>
        </p:nvSpPr>
        <p:spPr>
          <a:xfrm>
            <a:off x="4709160" y="2606040"/>
            <a:ext cx="3566160"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COST</a:t>
            </a:r>
            <a:endParaRPr lang="en-US" sz="900" dirty="0"/>
          </a:p>
        </p:txBody>
      </p:sp>
      <p:sp>
        <p:nvSpPr>
          <p:cNvPr id="9" name="Text 6"/>
          <p:cNvSpPr txBox="1"/>
          <p:nvPr/>
        </p:nvSpPr>
        <p:spPr>
          <a:xfrm>
            <a:off x="4709160" y="2843784"/>
            <a:ext cx="3566160" cy="5486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Every step needs the force on every body: N(N−1)/2 ≈ 2.1 × 10⁹ pairs at N = 65,536.</a:t>
            </a:r>
            <a:endParaRPr lang="en-US" sz="1300" dirty="0"/>
          </a:p>
        </p:txBody>
      </p:sp>
      <p:sp>
        <p:nvSpPr>
          <p:cNvPr id="10" name="Shape 7"/>
          <p:cNvSpPr/>
          <p:nvPr/>
        </p:nvSpPr>
        <p:spPr>
          <a:xfrm>
            <a:off x="4709160" y="3410712"/>
            <a:ext cx="3566160" cy="0"/>
          </a:xfrm>
          <a:prstGeom prst="line">
            <a:avLst/>
          </a:prstGeom>
          <a:noFill/>
          <a:ln w="9525">
            <a:solidFill>
              <a:srgbClr val="D9D5CC"/>
            </a:solidFill>
            <a:prstDash val="solid"/>
          </a:ln>
        </p:spPr>
      </p:sp>
      <p:sp>
        <p:nvSpPr>
          <p:cNvPr id="11" name="Text 8"/>
          <p:cNvSpPr txBox="1"/>
          <p:nvPr/>
        </p:nvSpPr>
        <p:spPr>
          <a:xfrm>
            <a:off x="4709160" y="3502152"/>
            <a:ext cx="3566160"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SHORTCUT</a:t>
            </a:r>
            <a:endParaRPr lang="en-US" sz="900" dirty="0"/>
          </a:p>
        </p:txBody>
      </p:sp>
      <p:sp>
        <p:nvSpPr>
          <p:cNvPr id="12" name="Text 9"/>
          <p:cNvSpPr txBox="1"/>
          <p:nvPr/>
        </p:nvSpPr>
        <p:spPr>
          <a:xfrm>
            <a:off x="4709160" y="3739896"/>
            <a:ext cx="3566160" cy="5486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Barnes–Hut octree: a distant cell acts as one mass (θ = 0.5), giving O(N log N).</a:t>
            </a:r>
            <a:endParaRPr lang="en-US" sz="1300" dirty="0"/>
          </a:p>
        </p:txBody>
      </p:sp>
      <p:sp>
        <p:nvSpPr>
          <p:cNvPr id="13" name="Shape 10"/>
          <p:cNvSpPr/>
          <p:nvPr/>
        </p:nvSpPr>
        <p:spPr>
          <a:xfrm>
            <a:off x="4709160" y="4306824"/>
            <a:ext cx="3566160" cy="0"/>
          </a:xfrm>
          <a:prstGeom prst="line">
            <a:avLst/>
          </a:prstGeom>
          <a:noFill/>
          <a:ln w="9525">
            <a:solidFill>
              <a:srgbClr val="D9D5CC"/>
            </a:solidFill>
            <a:prstDash val="solid"/>
          </a:ln>
        </p:spPr>
      </p:sp>
      <p:sp>
        <p:nvSpPr>
          <p:cNvPr id="14" name="Text 11"/>
          <p:cNvSpPr txBox="1"/>
          <p:nvPr/>
        </p:nvSpPr>
        <p:spPr>
          <a:xfrm>
            <a:off x="4709160" y="4398264"/>
            <a:ext cx="3566160"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IMBALANCE</a:t>
            </a:r>
            <a:endParaRPr lang="en-US" sz="900" dirty="0"/>
          </a:p>
        </p:txBody>
      </p:sp>
      <p:sp>
        <p:nvSpPr>
          <p:cNvPr id="15" name="Text 12"/>
          <p:cNvSpPr txBox="1"/>
          <p:nvPr/>
        </p:nvSpPr>
        <p:spPr>
          <a:xfrm>
            <a:off x="4709160" y="4636008"/>
            <a:ext cx="3566160" cy="5486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A body in a dense region opens more cells, so its force costs more.</a:t>
            </a:r>
            <a:endParaRPr lang="en-US" sz="1300" dirty="0"/>
          </a:p>
        </p:txBody>
      </p:sp>
      <p:sp>
        <p:nvSpPr>
          <p:cNvPr id="16" name="Shape 13"/>
          <p:cNvSpPr/>
          <p:nvPr/>
        </p:nvSpPr>
        <p:spPr>
          <a:xfrm>
            <a:off x="4709160" y="5202936"/>
            <a:ext cx="3566160" cy="0"/>
          </a:xfrm>
          <a:prstGeom prst="line">
            <a:avLst/>
          </a:prstGeom>
          <a:noFill/>
          <a:ln w="9525">
            <a:solidFill>
              <a:srgbClr val="D9D5CC"/>
            </a:solidFill>
            <a:prstDash val="solid"/>
          </a:ln>
        </p:spPr>
      </p:sp>
      <p:sp>
        <p:nvSpPr>
          <p:cNvPr id="17" name="Text 14"/>
          <p:cNvSpPr txBox="1"/>
          <p:nvPr/>
        </p:nvSpPr>
        <p:spPr>
          <a:xfrm>
            <a:off x="4709160" y="5294376"/>
            <a:ext cx="3566160"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SCHEDULE</a:t>
            </a:r>
            <a:endParaRPr lang="en-US" sz="900" dirty="0"/>
          </a:p>
        </p:txBody>
      </p:sp>
      <p:sp>
        <p:nvSpPr>
          <p:cNvPr id="18" name="Text 15"/>
          <p:cNvSpPr txBox="1"/>
          <p:nvPr/>
        </p:nvSpPr>
        <p:spPr>
          <a:xfrm>
            <a:off x="4709160" y="5532120"/>
            <a:ext cx="3566160" cy="5486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Static gives each thread an equal count of Morton-ordered bodies, i.e. one region of space.</a:t>
            </a:r>
            <a:endParaRPr lang="en-US" sz="1300" dirty="0"/>
          </a:p>
        </p:txBody>
      </p:sp>
      <p:sp>
        <p:nvSpPr>
          <p:cNvPr id="19" name="Text 16"/>
          <p:cNvSpPr txBox="1"/>
          <p:nvPr/>
        </p:nvSpPr>
        <p:spPr>
          <a:xfrm>
            <a:off x="8732520" y="2514600"/>
            <a:ext cx="2770632"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FORCE-LOOP TIME PER THREAD [ms]</a:t>
            </a:r>
            <a:endParaRPr lang="en-US" sz="900" dirty="0"/>
          </a:p>
        </p:txBody>
      </p:sp>
      <p:graphicFrame>
        <p:nvGraphicFramePr>
          <p:cNvPr id="20" name="Chart 0"/>
          <p:cNvGraphicFramePr/>
          <p:nvPr/>
        </p:nvGraphicFramePr>
        <p:xfrm>
          <a:off x="8641080" y="2743200"/>
          <a:ext cx="2862072"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txBox="1"/>
          <p:nvPr/>
        </p:nvSpPr>
        <p:spPr>
          <a:xfrm>
            <a:off x="8732520" y="5074920"/>
            <a:ext cx="2743200" cy="685800"/>
          </a:xfrm>
          <a:prstGeom prst="rect">
            <a:avLst/>
          </a:prstGeom>
          <a:noFill/>
          <a:ln/>
        </p:spPr>
        <p:txBody>
          <a:bodyPr wrap="square" lIns="0" tIns="0" rIns="0" bIns="0" rtlCol="0" anchor="t"/>
          <a:lstStyle/>
          <a:p>
            <a:pPr marL="0" indent="0">
              <a:buNone/>
            </a:pPr>
            <a:r>
              <a:rPr lang="en-US" sz="4000" b="1" dirty="0">
                <a:solidFill>
                  <a:srgbClr val="D9472B"/>
                </a:solidFill>
                <a:latin typeface="IBM Plex Mono" pitchFamily="34" charset="0"/>
                <a:ea typeface="IBM Plex Mono" pitchFamily="34" charset="-122"/>
                <a:cs typeface="IBM Plex Mono" pitchFamily="34" charset="-120"/>
              </a:rPr>
              <a:t>3.7×</a:t>
            </a:r>
            <a:endParaRPr lang="en-US" sz="4000" dirty="0"/>
          </a:p>
        </p:txBody>
      </p:sp>
      <p:sp>
        <p:nvSpPr>
          <p:cNvPr id="22" name="Text 18"/>
          <p:cNvSpPr txBox="1"/>
          <p:nvPr/>
        </p:nvSpPr>
        <p:spPr>
          <a:xfrm>
            <a:off x="8732520" y="5779008"/>
            <a:ext cx="2770632" cy="365760"/>
          </a:xfrm>
          <a:prstGeom prst="rect">
            <a:avLst/>
          </a:prstGeom>
          <a:noFill/>
          <a:ln/>
        </p:spPr>
        <p:txBody>
          <a:bodyPr wrap="square" lIns="0" tIns="0" rIns="0" bIns="0" rtlCol="0" anchor="t"/>
          <a:lstStyle/>
          <a:p>
            <a:pPr marL="0" indent="0">
              <a:buNone/>
            </a:pPr>
            <a:r>
              <a:rPr lang="en-US" sz="900" dirty="0">
                <a:solidFill>
                  <a:srgbClr val="6B6862"/>
                </a:solidFill>
                <a:latin typeface="IBM Plex Mono" pitchFamily="34" charset="0"/>
                <a:ea typeface="IBM Plex Mono" pitchFamily="34" charset="-122"/>
                <a:cs typeface="IBM Plex Mono" pitchFamily="34" charset="-120"/>
              </a:rPr>
              <a:t>busiest vs least-loaded thread; λ = 0.63 at this step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02</a:t>
            </a:r>
            <a:r>
              <a:rPr lang="en-US" sz="1000" kern="0" spc="150" dirty="0">
                <a:solidFill>
                  <a:srgbClr val="6B6862"/>
                </a:solidFill>
                <a:latin typeface="IBM Plex Mono" pitchFamily="34" charset="0"/>
                <a:ea typeface="IBM Plex Mono" pitchFamily="34" charset="-122"/>
                <a:cs typeface="IBM Plex Mono" pitchFamily="34" charset="-120"/>
              </a:rPr>
              <a:t>  —  OBJECTIVES</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All four synopsis objectives are implemented and measured</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Each objective maps to code in the repository and to a measured result.</a:t>
            </a:r>
            <a:endParaRPr lang="en-US" sz="1500" dirty="0"/>
          </a:p>
        </p:txBody>
      </p:sp>
      <p:sp>
        <p:nvSpPr>
          <p:cNvPr id="5" name="Text 3"/>
          <p:cNvSpPr txBox="1"/>
          <p:nvPr/>
        </p:nvSpPr>
        <p:spPr>
          <a:xfrm>
            <a:off x="685800" y="2514600"/>
            <a:ext cx="640080" cy="201168"/>
          </a:xfrm>
          <a:prstGeom prst="rect">
            <a:avLst/>
          </a:prstGeom>
          <a:noFill/>
          <a:ln/>
        </p:spPr>
        <p:txBody>
          <a:bodyPr wrap="square" lIns="0" tIns="0" rIns="0" bIns="0" rtlCol="0" anchor="t"/>
          <a:lstStyle/>
          <a:p>
            <a:pPr marL="0" indent="0">
              <a:buNone/>
            </a:pPr>
            <a:endParaRPr lang="en-US" sz="900" dirty="0"/>
          </a:p>
        </p:txBody>
      </p:sp>
      <p:sp>
        <p:nvSpPr>
          <p:cNvPr id="6" name="Text 4"/>
          <p:cNvSpPr txBox="1"/>
          <p:nvPr/>
        </p:nvSpPr>
        <p:spPr>
          <a:xfrm>
            <a:off x="1417320" y="2514600"/>
            <a:ext cx="4160520"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OBJECTIVE</a:t>
            </a:r>
            <a:endParaRPr lang="en-US" sz="900" dirty="0"/>
          </a:p>
        </p:txBody>
      </p:sp>
      <p:sp>
        <p:nvSpPr>
          <p:cNvPr id="7" name="Text 5"/>
          <p:cNvSpPr txBox="1"/>
          <p:nvPr/>
        </p:nvSpPr>
        <p:spPr>
          <a:xfrm>
            <a:off x="5760720" y="2514600"/>
            <a:ext cx="2743200"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IMPLEMENTED AS</a:t>
            </a:r>
            <a:endParaRPr lang="en-US" sz="900" dirty="0"/>
          </a:p>
        </p:txBody>
      </p:sp>
      <p:sp>
        <p:nvSpPr>
          <p:cNvPr id="8" name="Text 6"/>
          <p:cNvSpPr txBox="1"/>
          <p:nvPr/>
        </p:nvSpPr>
        <p:spPr>
          <a:xfrm>
            <a:off x="8686800" y="2514600"/>
            <a:ext cx="2816352"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EVIDENCE</a:t>
            </a:r>
            <a:endParaRPr lang="en-US" sz="900" dirty="0"/>
          </a:p>
        </p:txBody>
      </p:sp>
      <p:sp>
        <p:nvSpPr>
          <p:cNvPr id="9" name="Shape 7"/>
          <p:cNvSpPr/>
          <p:nvPr/>
        </p:nvSpPr>
        <p:spPr>
          <a:xfrm>
            <a:off x="685800" y="2807208"/>
            <a:ext cx="10820095" cy="0"/>
          </a:xfrm>
          <a:prstGeom prst="line">
            <a:avLst/>
          </a:prstGeom>
          <a:noFill/>
          <a:ln w="9525">
            <a:solidFill>
              <a:srgbClr val="D9D5CC"/>
            </a:solidFill>
            <a:prstDash val="solid"/>
          </a:ln>
        </p:spPr>
      </p:sp>
      <p:sp>
        <p:nvSpPr>
          <p:cNvPr id="10" name="Text 8"/>
          <p:cNvSpPr txBox="1"/>
          <p:nvPr/>
        </p:nvSpPr>
        <p:spPr>
          <a:xfrm>
            <a:off x="685800" y="2880360"/>
            <a:ext cx="640080" cy="548640"/>
          </a:xfrm>
          <a:prstGeom prst="rect">
            <a:avLst/>
          </a:prstGeom>
          <a:noFill/>
          <a:ln/>
        </p:spPr>
        <p:txBody>
          <a:bodyPr wrap="square" lIns="0" tIns="0" rIns="0" bIns="0" rtlCol="0" anchor="t"/>
          <a:lstStyle/>
          <a:p>
            <a:pPr marL="0" indent="0">
              <a:lnSpc>
                <a:spcPct val="90000"/>
              </a:lnSpc>
              <a:buNone/>
            </a:pPr>
            <a:r>
              <a:rPr lang="en-US" sz="800" kern="0" spc="100" dirty="0">
                <a:solidFill>
                  <a:srgbClr val="D9472B"/>
                </a:solidFill>
                <a:latin typeface="IBM Plex Mono" pitchFamily="34" charset="0"/>
                <a:ea typeface="IBM Plex Mono" pitchFamily="34" charset="-122"/>
                <a:cs typeface="IBM Plex Mono" pitchFamily="34" charset="-120"/>
              </a:rPr>
              <a:t>OBJ</a:t>
            </a:r>
            <a:endParaRPr lang="en-US" sz="1400" dirty="0"/>
          </a:p>
          <a:p>
            <a:pPr marL="0" indent="0">
              <a:lnSpc>
                <a:spcPct val="90000"/>
              </a:lnSpc>
              <a:buNone/>
            </a:pPr>
            <a:r>
              <a:rPr lang="en-US" sz="1700" b="1" dirty="0">
                <a:solidFill>
                  <a:srgbClr val="D9472B"/>
                </a:solidFill>
                <a:latin typeface="IBM Plex Mono" pitchFamily="34" charset="0"/>
                <a:ea typeface="IBM Plex Mono" pitchFamily="34" charset="-122"/>
                <a:cs typeface="IBM Plex Mono" pitchFamily="34" charset="-120"/>
              </a:rPr>
              <a:t>1</a:t>
            </a:r>
            <a:endParaRPr lang="en-US" sz="1400" dirty="0"/>
          </a:p>
        </p:txBody>
      </p:sp>
      <p:sp>
        <p:nvSpPr>
          <p:cNvPr id="11" name="Text 9"/>
          <p:cNvSpPr txBox="1"/>
          <p:nvPr/>
        </p:nvSpPr>
        <p:spPr>
          <a:xfrm>
            <a:off x="1417320" y="2916936"/>
            <a:ext cx="4160520" cy="530352"/>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Sequential direct-sum and Barnes–Hut baselines with energy and momentum checks</a:t>
            </a:r>
            <a:endParaRPr lang="en-US" sz="1300" dirty="0"/>
          </a:p>
        </p:txBody>
      </p:sp>
      <p:sp>
        <p:nvSpPr>
          <p:cNvPr id="12" name="Text 10"/>
          <p:cNvSpPr txBox="1"/>
          <p:nvPr/>
        </p:nvSpPr>
        <p:spPr>
          <a:xfrm>
            <a:off x="5760720" y="2935224"/>
            <a:ext cx="2743200" cy="502920"/>
          </a:xfrm>
          <a:prstGeom prst="rect">
            <a:avLst/>
          </a:prstGeom>
          <a:noFill/>
          <a:ln/>
        </p:spPr>
        <p:txBody>
          <a:bodyPr wrap="square" lIns="0" tIns="0" rIns="0" bIns="0" rtlCol="0" anchor="t"/>
          <a:lstStyle/>
          <a:p>
            <a:pPr marL="0" indent="0">
              <a:buNone/>
            </a:pPr>
            <a:r>
              <a:rPr lang="en-US" sz="1050" dirty="0">
                <a:solidFill>
                  <a:srgbClr val="3A3936"/>
                </a:solidFill>
                <a:latin typeface="IBM Plex Mono" pitchFamily="34" charset="0"/>
                <a:ea typeface="IBM Plex Mono" pitchFamily="34" charset="-122"/>
                <a:cs typeface="IBM Plex Mono" pitchFamily="34" charset="-120"/>
              </a:rPr>
              <a:t>--force direct | bh, 1 thread</a:t>
            </a:r>
            <a:endParaRPr lang="en-US" sz="1050" dirty="0"/>
          </a:p>
        </p:txBody>
      </p:sp>
      <p:sp>
        <p:nvSpPr>
          <p:cNvPr id="13" name="Text 11"/>
          <p:cNvSpPr txBox="1"/>
          <p:nvPr/>
        </p:nvSpPr>
        <p:spPr>
          <a:xfrm>
            <a:off x="8686800" y="2935224"/>
            <a:ext cx="2816352" cy="502920"/>
          </a:xfrm>
          <a:prstGeom prst="rect">
            <a:avLst/>
          </a:prstGeom>
          <a:noFill/>
          <a:ln/>
        </p:spPr>
        <p:txBody>
          <a:bodyPr wrap="square" lIns="0" tIns="0" rIns="0" bIns="0" rtlCol="0" anchor="t"/>
          <a:lstStyle/>
          <a:p>
            <a:pPr marL="0" indent="0">
              <a:buNone/>
            </a:pPr>
            <a:r>
              <a:rPr lang="en-US" sz="1050" dirty="0">
                <a:solidFill>
                  <a:srgbClr val="111111"/>
                </a:solidFill>
                <a:latin typeface="IBM Plex Mono" pitchFamily="34" charset="0"/>
                <a:ea typeface="IBM Plex Mono" pitchFamily="34" charset="-122"/>
                <a:cs typeface="IBM Plex Mono" pitchFamily="34" charset="-120"/>
              </a:rPr>
              <a:t>max ΔE/E 1.1 × 10⁻⁷ (direct)</a:t>
            </a:r>
            <a:endParaRPr lang="en-US" sz="1050" dirty="0"/>
          </a:p>
        </p:txBody>
      </p:sp>
      <p:sp>
        <p:nvSpPr>
          <p:cNvPr id="14" name="Shape 12"/>
          <p:cNvSpPr/>
          <p:nvPr/>
        </p:nvSpPr>
        <p:spPr>
          <a:xfrm>
            <a:off x="685800" y="3483864"/>
            <a:ext cx="10820095" cy="0"/>
          </a:xfrm>
          <a:prstGeom prst="line">
            <a:avLst/>
          </a:prstGeom>
          <a:noFill/>
          <a:ln w="9525">
            <a:solidFill>
              <a:srgbClr val="D9D5CC"/>
            </a:solidFill>
            <a:prstDash val="solid"/>
          </a:ln>
        </p:spPr>
      </p:sp>
      <p:sp>
        <p:nvSpPr>
          <p:cNvPr id="15" name="Text 13"/>
          <p:cNvSpPr txBox="1"/>
          <p:nvPr/>
        </p:nvSpPr>
        <p:spPr>
          <a:xfrm>
            <a:off x="685800" y="3557016"/>
            <a:ext cx="640080" cy="548640"/>
          </a:xfrm>
          <a:prstGeom prst="rect">
            <a:avLst/>
          </a:prstGeom>
          <a:noFill/>
          <a:ln/>
        </p:spPr>
        <p:txBody>
          <a:bodyPr wrap="square" lIns="0" tIns="0" rIns="0" bIns="0" rtlCol="0" anchor="t"/>
          <a:lstStyle/>
          <a:p>
            <a:pPr marL="0" indent="0">
              <a:lnSpc>
                <a:spcPct val="90000"/>
              </a:lnSpc>
              <a:buNone/>
            </a:pPr>
            <a:r>
              <a:rPr lang="en-US" sz="800" kern="0" spc="100" dirty="0">
                <a:solidFill>
                  <a:srgbClr val="D9472B"/>
                </a:solidFill>
                <a:latin typeface="IBM Plex Mono" pitchFamily="34" charset="0"/>
                <a:ea typeface="IBM Plex Mono" pitchFamily="34" charset="-122"/>
                <a:cs typeface="IBM Plex Mono" pitchFamily="34" charset="-120"/>
              </a:rPr>
              <a:t>OBJ</a:t>
            </a:r>
            <a:endParaRPr lang="en-US" sz="1400" dirty="0"/>
          </a:p>
          <a:p>
            <a:pPr marL="0" indent="0">
              <a:lnSpc>
                <a:spcPct val="90000"/>
              </a:lnSpc>
              <a:buNone/>
            </a:pPr>
            <a:r>
              <a:rPr lang="en-US" sz="1700" b="1" dirty="0">
                <a:solidFill>
                  <a:srgbClr val="D9472B"/>
                </a:solidFill>
                <a:latin typeface="IBM Plex Mono" pitchFamily="34" charset="0"/>
                <a:ea typeface="IBM Plex Mono" pitchFamily="34" charset="-122"/>
                <a:cs typeface="IBM Plex Mono" pitchFamily="34" charset="-120"/>
              </a:rPr>
              <a:t>2</a:t>
            </a:r>
            <a:endParaRPr lang="en-US" sz="1400" dirty="0"/>
          </a:p>
        </p:txBody>
      </p:sp>
      <p:sp>
        <p:nvSpPr>
          <p:cNvPr id="16" name="Text 14"/>
          <p:cNvSpPr txBox="1"/>
          <p:nvPr/>
        </p:nvSpPr>
        <p:spPr>
          <a:xfrm>
            <a:off x="1417320" y="3593592"/>
            <a:ext cx="4160520" cy="530352"/>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OpenMP force loop; characterise static, dynamic and guided schedules</a:t>
            </a:r>
            <a:endParaRPr lang="en-US" sz="1300" dirty="0"/>
          </a:p>
        </p:txBody>
      </p:sp>
      <p:sp>
        <p:nvSpPr>
          <p:cNvPr id="17" name="Text 15"/>
          <p:cNvSpPr txBox="1"/>
          <p:nvPr/>
        </p:nvSpPr>
        <p:spPr>
          <a:xfrm>
            <a:off x="5760720" y="3611880"/>
            <a:ext cx="2743200" cy="502920"/>
          </a:xfrm>
          <a:prstGeom prst="rect">
            <a:avLst/>
          </a:prstGeom>
          <a:noFill/>
          <a:ln/>
        </p:spPr>
        <p:txBody>
          <a:bodyPr wrap="square" lIns="0" tIns="0" rIns="0" bIns="0" rtlCol="0" anchor="t"/>
          <a:lstStyle/>
          <a:p>
            <a:pPr marL="0" indent="0">
              <a:buNone/>
            </a:pPr>
            <a:r>
              <a:rPr lang="en-US" sz="1050" dirty="0">
                <a:solidFill>
                  <a:srgbClr val="3A3936"/>
                </a:solidFill>
                <a:latin typeface="IBM Plex Mono" pitchFamily="34" charset="0"/>
                <a:ea typeface="IBM Plex Mono" pitchFamily="34" charset="-122"/>
                <a:cs typeface="IBM Plex Mono" pitchFamily="34" charset="-120"/>
              </a:rPr>
              <a:t>schedule(runtime)</a:t>
            </a:r>
            <a:endParaRPr lang="en-US" sz="1050" dirty="0"/>
          </a:p>
        </p:txBody>
      </p:sp>
      <p:sp>
        <p:nvSpPr>
          <p:cNvPr id="18" name="Text 16"/>
          <p:cNvSpPr txBox="1"/>
          <p:nvPr/>
        </p:nvSpPr>
        <p:spPr>
          <a:xfrm>
            <a:off x="8686800" y="3611880"/>
            <a:ext cx="2816352" cy="502920"/>
          </a:xfrm>
          <a:prstGeom prst="rect">
            <a:avLst/>
          </a:prstGeom>
          <a:noFill/>
          <a:ln/>
        </p:spPr>
        <p:txBody>
          <a:bodyPr wrap="square" lIns="0" tIns="0" rIns="0" bIns="0" rtlCol="0" anchor="t"/>
          <a:lstStyle/>
          <a:p>
            <a:pPr marL="0" indent="0">
              <a:buNone/>
            </a:pPr>
            <a:r>
              <a:rPr lang="en-US" sz="1050" dirty="0">
                <a:solidFill>
                  <a:srgbClr val="111111"/>
                </a:solidFill>
                <a:latin typeface="IBM Plex Mono" pitchFamily="34" charset="0"/>
                <a:ea typeface="IBM Plex Mono" pitchFamily="34" charset="-122"/>
                <a:cs typeface="IBM Plex Mono" pitchFamily="34" charset="-120"/>
              </a:rPr>
              <a:t>4 inputs × 3 sizes × 1–8 threads</a:t>
            </a:r>
            <a:endParaRPr lang="en-US" sz="1050" dirty="0"/>
          </a:p>
        </p:txBody>
      </p:sp>
      <p:sp>
        <p:nvSpPr>
          <p:cNvPr id="19" name="Shape 17"/>
          <p:cNvSpPr/>
          <p:nvPr/>
        </p:nvSpPr>
        <p:spPr>
          <a:xfrm>
            <a:off x="685800" y="4160520"/>
            <a:ext cx="10820095" cy="0"/>
          </a:xfrm>
          <a:prstGeom prst="line">
            <a:avLst/>
          </a:prstGeom>
          <a:noFill/>
          <a:ln w="9525">
            <a:solidFill>
              <a:srgbClr val="D9D5CC"/>
            </a:solidFill>
            <a:prstDash val="solid"/>
          </a:ln>
        </p:spPr>
      </p:sp>
      <p:sp>
        <p:nvSpPr>
          <p:cNvPr id="20" name="Text 18"/>
          <p:cNvSpPr txBox="1"/>
          <p:nvPr/>
        </p:nvSpPr>
        <p:spPr>
          <a:xfrm>
            <a:off x="685800" y="4233672"/>
            <a:ext cx="640080" cy="548640"/>
          </a:xfrm>
          <a:prstGeom prst="rect">
            <a:avLst/>
          </a:prstGeom>
          <a:noFill/>
          <a:ln/>
        </p:spPr>
        <p:txBody>
          <a:bodyPr wrap="square" lIns="0" tIns="0" rIns="0" bIns="0" rtlCol="0" anchor="t"/>
          <a:lstStyle/>
          <a:p>
            <a:pPr marL="0" indent="0">
              <a:lnSpc>
                <a:spcPct val="90000"/>
              </a:lnSpc>
              <a:buNone/>
            </a:pPr>
            <a:r>
              <a:rPr lang="en-US" sz="800" kern="0" spc="100" dirty="0">
                <a:solidFill>
                  <a:srgbClr val="D9472B"/>
                </a:solidFill>
                <a:latin typeface="IBM Plex Mono" pitchFamily="34" charset="0"/>
                <a:ea typeface="IBM Plex Mono" pitchFamily="34" charset="-122"/>
                <a:cs typeface="IBM Plex Mono" pitchFamily="34" charset="-120"/>
              </a:rPr>
              <a:t>OBJ</a:t>
            </a:r>
            <a:endParaRPr lang="en-US" sz="1400" dirty="0"/>
          </a:p>
          <a:p>
            <a:pPr marL="0" indent="0">
              <a:lnSpc>
                <a:spcPct val="90000"/>
              </a:lnSpc>
              <a:buNone/>
            </a:pPr>
            <a:r>
              <a:rPr lang="en-US" sz="1700" b="1" dirty="0">
                <a:solidFill>
                  <a:srgbClr val="D9472B"/>
                </a:solidFill>
                <a:latin typeface="IBM Plex Mono" pitchFamily="34" charset="0"/>
                <a:ea typeface="IBM Plex Mono" pitchFamily="34" charset="-122"/>
                <a:cs typeface="IBM Plex Mono" pitchFamily="34" charset="-120"/>
              </a:rPr>
              <a:t>3</a:t>
            </a:r>
            <a:endParaRPr lang="en-US" sz="1400" dirty="0"/>
          </a:p>
        </p:txBody>
      </p:sp>
      <p:sp>
        <p:nvSpPr>
          <p:cNvPr id="21" name="Text 19"/>
          <p:cNvSpPr txBox="1"/>
          <p:nvPr/>
        </p:nvSpPr>
        <p:spPr>
          <a:xfrm>
            <a:off x="1417320" y="4270248"/>
            <a:ext cx="4160520" cy="530352"/>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MPI distribution across ranks and a CUDA force kernel</a:t>
            </a:r>
            <a:endParaRPr lang="en-US" sz="1300" dirty="0"/>
          </a:p>
        </p:txBody>
      </p:sp>
      <p:sp>
        <p:nvSpPr>
          <p:cNvPr id="22" name="Text 20"/>
          <p:cNvSpPr txBox="1"/>
          <p:nvPr/>
        </p:nvSpPr>
        <p:spPr>
          <a:xfrm>
            <a:off x="5760720" y="4288536"/>
            <a:ext cx="2743200" cy="502920"/>
          </a:xfrm>
          <a:prstGeom prst="rect">
            <a:avLst/>
          </a:prstGeom>
          <a:noFill/>
          <a:ln/>
        </p:spPr>
        <p:txBody>
          <a:bodyPr wrap="square" lIns="0" tIns="0" rIns="0" bIns="0" rtlCol="0" anchor="t"/>
          <a:lstStyle/>
          <a:p>
            <a:pPr marL="0" indent="0">
              <a:buNone/>
            </a:pPr>
            <a:r>
              <a:rPr lang="en-US" sz="1050" dirty="0">
                <a:solidFill>
                  <a:srgbClr val="3A3936"/>
                </a:solidFill>
                <a:latin typeface="IBM Plex Mono" pitchFamily="34" charset="0"/>
                <a:ea typeface="IBM Plex Mono" pitchFamily="34" charset="-122"/>
                <a:cs typeface="IBM Plex Mono" pitchFamily="34" charset="-120"/>
              </a:rPr>
              <a:t>MPI_Allgatherv; tiled kernel via NVRTC</a:t>
            </a:r>
            <a:endParaRPr lang="en-US" sz="1050" dirty="0"/>
          </a:p>
        </p:txBody>
      </p:sp>
      <p:sp>
        <p:nvSpPr>
          <p:cNvPr id="23" name="Text 21"/>
          <p:cNvSpPr txBox="1"/>
          <p:nvPr/>
        </p:nvSpPr>
        <p:spPr>
          <a:xfrm>
            <a:off x="8686800" y="4288536"/>
            <a:ext cx="2816352" cy="502920"/>
          </a:xfrm>
          <a:prstGeom prst="rect">
            <a:avLst/>
          </a:prstGeom>
          <a:noFill/>
          <a:ln/>
        </p:spPr>
        <p:txBody>
          <a:bodyPr wrap="square" lIns="0" tIns="0" rIns="0" bIns="0" rtlCol="0" anchor="t"/>
          <a:lstStyle/>
          <a:p>
            <a:pPr marL="0" indent="0">
              <a:buNone/>
            </a:pPr>
            <a:r>
              <a:rPr lang="en-US" sz="1050" dirty="0">
                <a:solidFill>
                  <a:srgbClr val="111111"/>
                </a:solidFill>
                <a:latin typeface="IBM Plex Mono" pitchFamily="34" charset="0"/>
                <a:ea typeface="IBM Plex Mono" pitchFamily="34" charset="-122"/>
                <a:cs typeface="IBM Plex Mono" pitchFamily="34" charset="-120"/>
              </a:rPr>
              <a:t>1–4 ranks bit-identical; GPU fp32 error 4.6 × 10⁻⁶</a:t>
            </a:r>
            <a:endParaRPr lang="en-US" sz="1050" dirty="0"/>
          </a:p>
        </p:txBody>
      </p:sp>
      <p:sp>
        <p:nvSpPr>
          <p:cNvPr id="24" name="Shape 22"/>
          <p:cNvSpPr/>
          <p:nvPr/>
        </p:nvSpPr>
        <p:spPr>
          <a:xfrm>
            <a:off x="685800" y="4837176"/>
            <a:ext cx="10820095" cy="0"/>
          </a:xfrm>
          <a:prstGeom prst="line">
            <a:avLst/>
          </a:prstGeom>
          <a:noFill/>
          <a:ln w="9525">
            <a:solidFill>
              <a:srgbClr val="D9D5CC"/>
            </a:solidFill>
            <a:prstDash val="solid"/>
          </a:ln>
        </p:spPr>
      </p:sp>
      <p:sp>
        <p:nvSpPr>
          <p:cNvPr id="25" name="Text 23"/>
          <p:cNvSpPr txBox="1"/>
          <p:nvPr/>
        </p:nvSpPr>
        <p:spPr>
          <a:xfrm>
            <a:off x="685800" y="4910328"/>
            <a:ext cx="640080" cy="548640"/>
          </a:xfrm>
          <a:prstGeom prst="rect">
            <a:avLst/>
          </a:prstGeom>
          <a:noFill/>
          <a:ln/>
        </p:spPr>
        <p:txBody>
          <a:bodyPr wrap="square" lIns="0" tIns="0" rIns="0" bIns="0" rtlCol="0" anchor="t"/>
          <a:lstStyle/>
          <a:p>
            <a:pPr marL="0" indent="0">
              <a:lnSpc>
                <a:spcPct val="90000"/>
              </a:lnSpc>
              <a:buNone/>
            </a:pPr>
            <a:r>
              <a:rPr lang="en-US" sz="800" kern="0" spc="100" dirty="0">
                <a:solidFill>
                  <a:srgbClr val="D9472B"/>
                </a:solidFill>
                <a:latin typeface="IBM Plex Mono" pitchFamily="34" charset="0"/>
                <a:ea typeface="IBM Plex Mono" pitchFamily="34" charset="-122"/>
                <a:cs typeface="IBM Plex Mono" pitchFamily="34" charset="-120"/>
              </a:rPr>
              <a:t>OBJ</a:t>
            </a:r>
            <a:endParaRPr lang="en-US" sz="1400" dirty="0"/>
          </a:p>
          <a:p>
            <a:pPr marL="0" indent="0">
              <a:lnSpc>
                <a:spcPct val="90000"/>
              </a:lnSpc>
              <a:buNone/>
            </a:pPr>
            <a:r>
              <a:rPr lang="en-US" sz="1700" b="1" dirty="0">
                <a:solidFill>
                  <a:srgbClr val="D9472B"/>
                </a:solidFill>
                <a:latin typeface="IBM Plex Mono" pitchFamily="34" charset="0"/>
                <a:ea typeface="IBM Plex Mono" pitchFamily="34" charset="-122"/>
                <a:cs typeface="IBM Plex Mono" pitchFamily="34" charset="-120"/>
              </a:rPr>
              <a:t>4</a:t>
            </a:r>
            <a:endParaRPr lang="en-US" sz="1400" dirty="0"/>
          </a:p>
        </p:txBody>
      </p:sp>
      <p:sp>
        <p:nvSpPr>
          <p:cNvPr id="26" name="Text 24"/>
          <p:cNvSpPr txBox="1"/>
          <p:nvPr/>
        </p:nvSpPr>
        <p:spPr>
          <a:xfrm>
            <a:off x="1417320" y="4946904"/>
            <a:ext cx="4160520" cy="530352"/>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Adaptive controller, evaluated on uniform and clustered inputs</a:t>
            </a:r>
            <a:endParaRPr lang="en-US" sz="1300" dirty="0"/>
          </a:p>
        </p:txBody>
      </p:sp>
      <p:sp>
        <p:nvSpPr>
          <p:cNvPr id="27" name="Text 25"/>
          <p:cNvSpPr txBox="1"/>
          <p:nvPr/>
        </p:nvSpPr>
        <p:spPr>
          <a:xfrm>
            <a:off x="5760720" y="4965192"/>
            <a:ext cx="2743200" cy="502920"/>
          </a:xfrm>
          <a:prstGeom prst="rect">
            <a:avLst/>
          </a:prstGeom>
          <a:noFill/>
          <a:ln/>
        </p:spPr>
        <p:txBody>
          <a:bodyPr wrap="square" lIns="0" tIns="0" rIns="0" bIns="0" rtlCol="0" anchor="t"/>
          <a:lstStyle/>
          <a:p>
            <a:pPr marL="0" indent="0">
              <a:buNone/>
            </a:pPr>
            <a:r>
              <a:rPr lang="en-US" sz="1050" dirty="0">
                <a:solidFill>
                  <a:srgbClr val="3A3936"/>
                </a:solidFill>
                <a:latin typeface="IBM Plex Mono" pitchFamily="34" charset="0"/>
                <a:ea typeface="IBM Plex Mono" pitchFamily="34" charset="-122"/>
                <a:cs typeface="IBM Plex Mono" pitchFamily="34" charset="-120"/>
              </a:rPr>
              <a:t>omp_set_schedule, k = 5</a:t>
            </a:r>
            <a:endParaRPr lang="en-US" sz="1050" dirty="0"/>
          </a:p>
        </p:txBody>
      </p:sp>
      <p:sp>
        <p:nvSpPr>
          <p:cNvPr id="28" name="Text 26"/>
          <p:cNvSpPr txBox="1"/>
          <p:nvPr/>
        </p:nvSpPr>
        <p:spPr>
          <a:xfrm>
            <a:off x="8686800" y="4965192"/>
            <a:ext cx="2816352" cy="502920"/>
          </a:xfrm>
          <a:prstGeom prst="rect">
            <a:avLst/>
          </a:prstGeom>
          <a:noFill/>
          <a:ln/>
        </p:spPr>
        <p:txBody>
          <a:bodyPr wrap="square" lIns="0" tIns="0" rIns="0" bIns="0" rtlCol="0" anchor="t"/>
          <a:lstStyle/>
          <a:p>
            <a:pPr marL="0" indent="0">
              <a:buNone/>
            </a:pPr>
            <a:r>
              <a:rPr lang="en-US" sz="1050" dirty="0">
                <a:solidFill>
                  <a:srgbClr val="111111"/>
                </a:solidFill>
                <a:latin typeface="IBM Plex Mono" pitchFamily="34" charset="0"/>
                <a:ea typeface="IBM Plex Mono" pitchFamily="34" charset="-122"/>
                <a:cs typeface="IBM Plex Mono" pitchFamily="34" charset="-120"/>
              </a:rPr>
              <a:t>faster than static in 9/9 clustered cases</a:t>
            </a:r>
            <a:endParaRPr lang="en-US" sz="1050" dirty="0"/>
          </a:p>
        </p:txBody>
      </p:sp>
      <p:sp>
        <p:nvSpPr>
          <p:cNvPr id="29" name="Shape 27"/>
          <p:cNvSpPr/>
          <p:nvPr/>
        </p:nvSpPr>
        <p:spPr>
          <a:xfrm>
            <a:off x="685800" y="5513832"/>
            <a:ext cx="10820095" cy="0"/>
          </a:xfrm>
          <a:prstGeom prst="line">
            <a:avLst/>
          </a:prstGeom>
          <a:noFill/>
          <a:ln w="9525">
            <a:solidFill>
              <a:srgbClr val="D9D5CC"/>
            </a:solidFill>
            <a:prstDash val="solid"/>
          </a:ln>
        </p:spPr>
      </p:sp>
      <p:sp>
        <p:nvSpPr>
          <p:cNvPr id="30" name="Text 28"/>
          <p:cNvSpPr txBox="1"/>
          <p:nvPr/>
        </p:nvSpPr>
        <p:spPr>
          <a:xfrm>
            <a:off x="685800" y="5614416"/>
            <a:ext cx="640080" cy="457200"/>
          </a:xfrm>
          <a:prstGeom prst="rect">
            <a:avLst/>
          </a:prstGeom>
          <a:noFill/>
          <a:ln/>
        </p:spPr>
        <p:txBody>
          <a:bodyPr wrap="square" lIns="0" tIns="0" rIns="0" bIns="0" rtlCol="0" anchor="t"/>
          <a:lstStyle/>
          <a:p>
            <a:pPr marL="0" indent="0">
              <a:buNone/>
            </a:pPr>
            <a:r>
              <a:rPr lang="en-US" sz="1700" b="1" dirty="0">
                <a:solidFill>
                  <a:srgbClr val="D9472B"/>
                </a:solidFill>
                <a:latin typeface="IBM Plex Sans" pitchFamily="34" charset="0"/>
                <a:ea typeface="IBM Plex Sans" pitchFamily="34" charset="-122"/>
                <a:cs typeface="IBM Plex Sans" pitchFamily="34" charset="-120"/>
              </a:rPr>
              <a:t>+</a:t>
            </a:r>
            <a:endParaRPr lang="en-US" sz="1700" dirty="0"/>
          </a:p>
        </p:txBody>
      </p:sp>
      <p:sp>
        <p:nvSpPr>
          <p:cNvPr id="31" name="Text 29"/>
          <p:cNvSpPr txBox="1"/>
          <p:nvPr/>
        </p:nvSpPr>
        <p:spPr>
          <a:xfrm>
            <a:off x="1417320" y="5623560"/>
            <a:ext cx="4160520" cy="530352"/>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Beyond the synopsis: corrected imbalance metric under dynamic, thread pinning, thermal gate</a:t>
            </a:r>
            <a:endParaRPr lang="en-US" sz="1300" dirty="0"/>
          </a:p>
        </p:txBody>
      </p:sp>
      <p:sp>
        <p:nvSpPr>
          <p:cNvPr id="32" name="Text 30"/>
          <p:cNvSpPr txBox="1"/>
          <p:nvPr/>
        </p:nvSpPr>
        <p:spPr>
          <a:xfrm>
            <a:off x="5760720" y="5641848"/>
            <a:ext cx="2743200" cy="502920"/>
          </a:xfrm>
          <a:prstGeom prst="rect">
            <a:avLst/>
          </a:prstGeom>
          <a:noFill/>
          <a:ln/>
        </p:spPr>
        <p:txBody>
          <a:bodyPr wrap="square" lIns="0" tIns="0" rIns="0" bIns="0" rtlCol="0" anchor="t"/>
          <a:lstStyle/>
          <a:p>
            <a:pPr marL="0" indent="0">
              <a:buNone/>
            </a:pPr>
            <a:r>
              <a:rPr lang="en-US" sz="1050" dirty="0">
                <a:solidFill>
                  <a:srgbClr val="3A3936"/>
                </a:solidFill>
                <a:latin typeface="IBM Plex Mono" pitchFamily="34" charset="0"/>
                <a:ea typeface="IBM Plex Mono" pitchFamily="34" charset="-122"/>
                <a:cs typeface="IBM Plex Mono" pitchFamily="34" charset="-120"/>
              </a:rPr>
              <a:t>slides 04 and 05</a:t>
            </a:r>
            <a:endParaRPr lang="en-US" sz="1050" dirty="0"/>
          </a:p>
        </p:txBody>
      </p:sp>
      <p:sp>
        <p:nvSpPr>
          <p:cNvPr id="33" name="Text 31"/>
          <p:cNvSpPr txBox="1"/>
          <p:nvPr/>
        </p:nvSpPr>
        <p:spPr>
          <a:xfrm>
            <a:off x="8686800" y="5641848"/>
            <a:ext cx="2816352" cy="502920"/>
          </a:xfrm>
          <a:prstGeom prst="rect">
            <a:avLst/>
          </a:prstGeom>
          <a:noFill/>
          <a:ln/>
        </p:spPr>
        <p:txBody>
          <a:bodyPr wrap="square" lIns="0" tIns="0" rIns="0" bIns="0" rtlCol="0" anchor="t"/>
          <a:lstStyle/>
          <a:p>
            <a:pPr marL="0" indent="0">
              <a:buNone/>
            </a:pPr>
            <a:r>
              <a:rPr lang="en-US" sz="1050" dirty="0">
                <a:solidFill>
                  <a:srgbClr val="111111"/>
                </a:solidFill>
                <a:latin typeface="IBM Plex Mono" pitchFamily="34" charset="0"/>
                <a:ea typeface="IBM Plex Mono" pitchFamily="34" charset="-122"/>
                <a:cs typeface="IBM Plex Mono" pitchFamily="34" charset="-120"/>
              </a:rPr>
              <a:t>8/8 correctness checks</a:t>
            </a:r>
            <a:endParaRPr lang="en-US" sz="1050" dirty="0"/>
          </a:p>
        </p:txBody>
      </p:sp>
      <p:sp>
        <p:nvSpPr>
          <p:cNvPr id="34" name="Shape 32"/>
          <p:cNvSpPr/>
          <p:nvPr/>
        </p:nvSpPr>
        <p:spPr>
          <a:xfrm>
            <a:off x="685800" y="6190488"/>
            <a:ext cx="10820095" cy="0"/>
          </a:xfrm>
          <a:prstGeom prst="line">
            <a:avLst/>
          </a:prstGeom>
          <a:noFill/>
          <a:ln w="9525">
            <a:solidFill>
              <a:srgbClr val="D9D5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03</a:t>
            </a:r>
            <a:r>
              <a:rPr lang="en-US" sz="1000" kern="0" spc="150" dirty="0">
                <a:solidFill>
                  <a:srgbClr val="6B6862"/>
                </a:solidFill>
                <a:latin typeface="IBM Plex Mono" pitchFamily="34" charset="0"/>
                <a:ea typeface="IBM Plex Mono" pitchFamily="34" charset="-122"/>
                <a:cs typeface="IBM Plex Mono" pitchFamily="34" charset="-120"/>
              </a:rPr>
              <a:t>  —  ARCHITECTURE</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Every rank replicates the tree; threads and the GPU share the force work</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One timestep crosses three levels of parallelism. Bodies are re-sorted along a Morton curve every step.</a:t>
            </a:r>
            <a:endParaRPr lang="en-US" sz="1500" dirty="0"/>
          </a:p>
        </p:txBody>
      </p:sp>
      <p:sp>
        <p:nvSpPr>
          <p:cNvPr id="5" name="Text 3"/>
          <p:cNvSpPr/>
          <p:nvPr/>
        </p:nvSpPr>
        <p:spPr>
          <a:xfrm>
            <a:off x="685800" y="2514600"/>
            <a:ext cx="1325880" cy="438912"/>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50" dirty="0">
                <a:solidFill>
                  <a:srgbClr val="111111"/>
                </a:solidFill>
                <a:latin typeface="IBM Plex Mono" pitchFamily="34" charset="0"/>
                <a:ea typeface="IBM Plex Mono" pitchFamily="34" charset="-122"/>
                <a:cs typeface="IBM Plex Mono" pitchFamily="34" charset="-120"/>
              </a:rPr>
              <a:t>kick + drift</a:t>
            </a:r>
            <a:endParaRPr lang="en-US" sz="1050" dirty="0"/>
          </a:p>
        </p:txBody>
      </p:sp>
      <p:sp>
        <p:nvSpPr>
          <p:cNvPr id="6" name="Shape 4"/>
          <p:cNvSpPr/>
          <p:nvPr/>
        </p:nvSpPr>
        <p:spPr>
          <a:xfrm>
            <a:off x="2048256" y="2734056"/>
            <a:ext cx="183337" cy="0"/>
          </a:xfrm>
          <a:prstGeom prst="line">
            <a:avLst/>
          </a:prstGeom>
          <a:noFill/>
          <a:ln w="12700">
            <a:solidFill>
              <a:srgbClr val="6B6862"/>
            </a:solidFill>
            <a:prstDash val="solid"/>
            <a:tailEnd type="triangle"/>
          </a:ln>
        </p:spPr>
      </p:sp>
      <p:sp>
        <p:nvSpPr>
          <p:cNvPr id="7" name="Text 5"/>
          <p:cNvSpPr/>
          <p:nvPr/>
        </p:nvSpPr>
        <p:spPr>
          <a:xfrm>
            <a:off x="2268169" y="2514600"/>
            <a:ext cx="1325880" cy="438912"/>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50" dirty="0">
                <a:solidFill>
                  <a:srgbClr val="111111"/>
                </a:solidFill>
                <a:latin typeface="IBM Plex Mono" pitchFamily="34" charset="0"/>
                <a:ea typeface="IBM Plex Mono" pitchFamily="34" charset="-122"/>
                <a:cs typeface="IBM Plex Mono" pitchFamily="34" charset="-120"/>
              </a:rPr>
              <a:t>MPI_Allgatherv</a:t>
            </a:r>
            <a:endParaRPr lang="en-US" sz="1050" dirty="0"/>
          </a:p>
        </p:txBody>
      </p:sp>
      <p:sp>
        <p:nvSpPr>
          <p:cNvPr id="8" name="Shape 6"/>
          <p:cNvSpPr/>
          <p:nvPr/>
        </p:nvSpPr>
        <p:spPr>
          <a:xfrm>
            <a:off x="3630625" y="2734056"/>
            <a:ext cx="183337" cy="0"/>
          </a:xfrm>
          <a:prstGeom prst="line">
            <a:avLst/>
          </a:prstGeom>
          <a:noFill/>
          <a:ln w="12700">
            <a:solidFill>
              <a:srgbClr val="6B6862"/>
            </a:solidFill>
            <a:prstDash val="solid"/>
            <a:tailEnd type="triangle"/>
          </a:ln>
        </p:spPr>
      </p:sp>
      <p:sp>
        <p:nvSpPr>
          <p:cNvPr id="9" name="Text 7"/>
          <p:cNvSpPr/>
          <p:nvPr/>
        </p:nvSpPr>
        <p:spPr>
          <a:xfrm>
            <a:off x="3850538" y="2514600"/>
            <a:ext cx="1325880" cy="438912"/>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50" dirty="0">
                <a:solidFill>
                  <a:srgbClr val="111111"/>
                </a:solidFill>
                <a:latin typeface="IBM Plex Mono" pitchFamily="34" charset="0"/>
                <a:ea typeface="IBM Plex Mono" pitchFamily="34" charset="-122"/>
                <a:cs typeface="IBM Plex Mono" pitchFamily="34" charset="-120"/>
              </a:rPr>
              <a:t>Morton sort</a:t>
            </a:r>
            <a:endParaRPr lang="en-US" sz="1050" dirty="0"/>
          </a:p>
        </p:txBody>
      </p:sp>
      <p:sp>
        <p:nvSpPr>
          <p:cNvPr id="10" name="Shape 8"/>
          <p:cNvSpPr/>
          <p:nvPr/>
        </p:nvSpPr>
        <p:spPr>
          <a:xfrm>
            <a:off x="5212994" y="2734056"/>
            <a:ext cx="183337" cy="0"/>
          </a:xfrm>
          <a:prstGeom prst="line">
            <a:avLst/>
          </a:prstGeom>
          <a:noFill/>
          <a:ln w="12700">
            <a:solidFill>
              <a:srgbClr val="6B6862"/>
            </a:solidFill>
            <a:prstDash val="solid"/>
            <a:tailEnd type="triangle"/>
          </a:ln>
        </p:spPr>
      </p:sp>
      <p:sp>
        <p:nvSpPr>
          <p:cNvPr id="11" name="Text 9"/>
          <p:cNvSpPr/>
          <p:nvPr/>
        </p:nvSpPr>
        <p:spPr>
          <a:xfrm>
            <a:off x="5432908" y="2514600"/>
            <a:ext cx="1325880" cy="438912"/>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50" dirty="0">
                <a:solidFill>
                  <a:srgbClr val="111111"/>
                </a:solidFill>
                <a:latin typeface="IBM Plex Mono" pitchFamily="34" charset="0"/>
                <a:ea typeface="IBM Plex Mono" pitchFamily="34" charset="-122"/>
                <a:cs typeface="IBM Plex Mono" pitchFamily="34" charset="-120"/>
              </a:rPr>
              <a:t>octree build</a:t>
            </a:r>
            <a:endParaRPr lang="en-US" sz="1050" dirty="0"/>
          </a:p>
        </p:txBody>
      </p:sp>
      <p:sp>
        <p:nvSpPr>
          <p:cNvPr id="12" name="Shape 10"/>
          <p:cNvSpPr/>
          <p:nvPr/>
        </p:nvSpPr>
        <p:spPr>
          <a:xfrm>
            <a:off x="6795364" y="2734056"/>
            <a:ext cx="183337" cy="0"/>
          </a:xfrm>
          <a:prstGeom prst="line">
            <a:avLst/>
          </a:prstGeom>
          <a:noFill/>
          <a:ln w="12700">
            <a:solidFill>
              <a:srgbClr val="6B6862"/>
            </a:solidFill>
            <a:prstDash val="solid"/>
            <a:tailEnd type="triangle"/>
          </a:ln>
        </p:spPr>
      </p:sp>
      <p:sp>
        <p:nvSpPr>
          <p:cNvPr id="13" name="Text 11"/>
          <p:cNvSpPr/>
          <p:nvPr/>
        </p:nvSpPr>
        <p:spPr>
          <a:xfrm>
            <a:off x="7015277" y="2514600"/>
            <a:ext cx="1325880" cy="438912"/>
          </a:xfrm>
          <a:prstGeom prst="rect">
            <a:avLst/>
          </a:prstGeom>
          <a:solidFill>
            <a:srgbClr val="F5F3EE"/>
          </a:solidFill>
          <a:ln w="15875">
            <a:solidFill>
              <a:srgbClr val="D9472B"/>
            </a:solidFill>
          </a:ln>
        </p:spPr>
        <p:txBody>
          <a:bodyPr wrap="square" lIns="50800" tIns="50800" rIns="50800" bIns="50800" rtlCol="0" anchor="ctr"/>
          <a:lstStyle/>
          <a:p>
            <a:pPr marL="0" indent="0" algn="ctr">
              <a:buNone/>
            </a:pPr>
            <a:r>
              <a:rPr lang="en-US" sz="1050" dirty="0">
                <a:solidFill>
                  <a:srgbClr val="D9472B"/>
                </a:solidFill>
                <a:latin typeface="IBM Plex Mono" pitchFamily="34" charset="0"/>
                <a:ea typeface="IBM Plex Mono" pitchFamily="34" charset="-122"/>
                <a:cs typeface="IBM Plex Mono" pitchFamily="34" charset="-120"/>
              </a:rPr>
              <a:t>force loop</a:t>
            </a:r>
            <a:endParaRPr lang="en-US" sz="1050" dirty="0"/>
          </a:p>
        </p:txBody>
      </p:sp>
      <p:sp>
        <p:nvSpPr>
          <p:cNvPr id="14" name="Shape 12"/>
          <p:cNvSpPr/>
          <p:nvPr/>
        </p:nvSpPr>
        <p:spPr>
          <a:xfrm>
            <a:off x="8377733" y="2734056"/>
            <a:ext cx="183337" cy="0"/>
          </a:xfrm>
          <a:prstGeom prst="line">
            <a:avLst/>
          </a:prstGeom>
          <a:noFill/>
          <a:ln w="12700">
            <a:solidFill>
              <a:srgbClr val="6B6862"/>
            </a:solidFill>
            <a:prstDash val="solid"/>
            <a:tailEnd type="triangle"/>
          </a:ln>
        </p:spPr>
      </p:sp>
      <p:sp>
        <p:nvSpPr>
          <p:cNvPr id="15" name="Text 13"/>
          <p:cNvSpPr/>
          <p:nvPr/>
        </p:nvSpPr>
        <p:spPr>
          <a:xfrm>
            <a:off x="8597646" y="2514600"/>
            <a:ext cx="1325880" cy="438912"/>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50" dirty="0">
                <a:solidFill>
                  <a:srgbClr val="111111"/>
                </a:solidFill>
                <a:latin typeface="IBM Plex Mono" pitchFamily="34" charset="0"/>
                <a:ea typeface="IBM Plex Mono" pitchFamily="34" charset="-122"/>
                <a:cs typeface="IBM Plex Mono" pitchFamily="34" charset="-120"/>
              </a:rPr>
              <a:t>kick</a:t>
            </a:r>
            <a:endParaRPr lang="en-US" sz="1050" dirty="0"/>
          </a:p>
        </p:txBody>
      </p:sp>
      <p:sp>
        <p:nvSpPr>
          <p:cNvPr id="16" name="Shape 14"/>
          <p:cNvSpPr/>
          <p:nvPr/>
        </p:nvSpPr>
        <p:spPr>
          <a:xfrm>
            <a:off x="9960102" y="2734056"/>
            <a:ext cx="183337" cy="0"/>
          </a:xfrm>
          <a:prstGeom prst="line">
            <a:avLst/>
          </a:prstGeom>
          <a:noFill/>
          <a:ln w="12700">
            <a:solidFill>
              <a:srgbClr val="6B6862"/>
            </a:solidFill>
            <a:prstDash val="solid"/>
            <a:tailEnd type="triangle"/>
          </a:ln>
        </p:spPr>
      </p:sp>
      <p:sp>
        <p:nvSpPr>
          <p:cNvPr id="17" name="Text 15"/>
          <p:cNvSpPr/>
          <p:nvPr/>
        </p:nvSpPr>
        <p:spPr>
          <a:xfrm>
            <a:off x="10180015" y="2514600"/>
            <a:ext cx="1325880" cy="438912"/>
          </a:xfrm>
          <a:prstGeom prst="rect">
            <a:avLst/>
          </a:prstGeom>
          <a:solidFill>
            <a:srgbClr val="F5F3EE"/>
          </a:solidFill>
          <a:ln w="15875">
            <a:solidFill>
              <a:srgbClr val="D9472B"/>
            </a:solidFill>
          </a:ln>
        </p:spPr>
        <p:txBody>
          <a:bodyPr wrap="square" lIns="50800" tIns="50800" rIns="50800" bIns="50800" rtlCol="0" anchor="ctr"/>
          <a:lstStyle/>
          <a:p>
            <a:pPr marL="0" indent="0" algn="ctr">
              <a:buNone/>
            </a:pPr>
            <a:r>
              <a:rPr lang="en-US" sz="1050" dirty="0">
                <a:solidFill>
                  <a:srgbClr val="D9472B"/>
                </a:solidFill>
                <a:latin typeface="IBM Plex Mono" pitchFamily="34" charset="0"/>
                <a:ea typeface="IBM Plex Mono" pitchFamily="34" charset="-122"/>
                <a:cs typeface="IBM Plex Mono" pitchFamily="34" charset="-120"/>
              </a:rPr>
              <a:t>controller</a:t>
            </a:r>
            <a:endParaRPr lang="en-US" sz="1050" dirty="0"/>
          </a:p>
        </p:txBody>
      </p:sp>
      <p:sp>
        <p:nvSpPr>
          <p:cNvPr id="18" name="Shape 16"/>
          <p:cNvSpPr/>
          <p:nvPr/>
        </p:nvSpPr>
        <p:spPr>
          <a:xfrm>
            <a:off x="685800" y="3246120"/>
            <a:ext cx="10820095" cy="0"/>
          </a:xfrm>
          <a:prstGeom prst="line">
            <a:avLst/>
          </a:prstGeom>
          <a:noFill/>
          <a:ln w="9525">
            <a:solidFill>
              <a:srgbClr val="D9D5CC"/>
            </a:solidFill>
            <a:prstDash val="solid"/>
          </a:ln>
        </p:spPr>
      </p:sp>
      <p:sp>
        <p:nvSpPr>
          <p:cNvPr id="19" name="Text 17"/>
          <p:cNvSpPr txBox="1"/>
          <p:nvPr/>
        </p:nvSpPr>
        <p:spPr>
          <a:xfrm>
            <a:off x="685800" y="3374136"/>
            <a:ext cx="1828800" cy="457200"/>
          </a:xfrm>
          <a:prstGeom prst="rect">
            <a:avLst/>
          </a:prstGeom>
          <a:noFill/>
          <a:ln/>
        </p:spPr>
        <p:txBody>
          <a:bodyPr wrap="square" lIns="0" tIns="0" rIns="0" bIns="0" rtlCol="0" anchor="t"/>
          <a:lstStyle/>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MPI</a:t>
            </a:r>
            <a:endParaRPr lang="en-US" sz="950" dirty="0"/>
          </a:p>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ACROSS RANKS</a:t>
            </a:r>
            <a:endParaRPr lang="en-US" sz="950" dirty="0"/>
          </a:p>
        </p:txBody>
      </p:sp>
      <p:sp>
        <p:nvSpPr>
          <p:cNvPr id="20" name="Shape 18"/>
          <p:cNvSpPr/>
          <p:nvPr/>
        </p:nvSpPr>
        <p:spPr>
          <a:xfrm>
            <a:off x="685800" y="4251960"/>
            <a:ext cx="10820095" cy="0"/>
          </a:xfrm>
          <a:prstGeom prst="line">
            <a:avLst/>
          </a:prstGeom>
          <a:noFill/>
          <a:ln w="9525">
            <a:solidFill>
              <a:srgbClr val="D9D5CC"/>
            </a:solidFill>
            <a:prstDash val="solid"/>
          </a:ln>
        </p:spPr>
      </p:sp>
      <p:sp>
        <p:nvSpPr>
          <p:cNvPr id="21" name="Text 19"/>
          <p:cNvSpPr txBox="1"/>
          <p:nvPr/>
        </p:nvSpPr>
        <p:spPr>
          <a:xfrm>
            <a:off x="685800" y="4379976"/>
            <a:ext cx="1828800" cy="457200"/>
          </a:xfrm>
          <a:prstGeom prst="rect">
            <a:avLst/>
          </a:prstGeom>
          <a:noFill/>
          <a:ln/>
        </p:spPr>
        <p:txBody>
          <a:bodyPr wrap="square" lIns="0" tIns="0" rIns="0" bIns="0" rtlCol="0" anchor="t"/>
          <a:lstStyle/>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OPENMP</a:t>
            </a:r>
            <a:endParaRPr lang="en-US" sz="950" dirty="0"/>
          </a:p>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ACROSS CORES</a:t>
            </a:r>
            <a:endParaRPr lang="en-US" sz="950" dirty="0"/>
          </a:p>
        </p:txBody>
      </p:sp>
      <p:sp>
        <p:nvSpPr>
          <p:cNvPr id="22" name="Shape 20"/>
          <p:cNvSpPr/>
          <p:nvPr/>
        </p:nvSpPr>
        <p:spPr>
          <a:xfrm>
            <a:off x="685800" y="5257800"/>
            <a:ext cx="10820095" cy="0"/>
          </a:xfrm>
          <a:prstGeom prst="line">
            <a:avLst/>
          </a:prstGeom>
          <a:noFill/>
          <a:ln w="9525">
            <a:solidFill>
              <a:srgbClr val="D9D5CC"/>
            </a:solidFill>
            <a:prstDash val="solid"/>
          </a:ln>
        </p:spPr>
      </p:sp>
      <p:sp>
        <p:nvSpPr>
          <p:cNvPr id="23" name="Text 21"/>
          <p:cNvSpPr txBox="1"/>
          <p:nvPr/>
        </p:nvSpPr>
        <p:spPr>
          <a:xfrm>
            <a:off x="685800" y="5385816"/>
            <a:ext cx="1828800" cy="457200"/>
          </a:xfrm>
          <a:prstGeom prst="rect">
            <a:avLst/>
          </a:prstGeom>
          <a:noFill/>
          <a:ln/>
        </p:spPr>
        <p:txBody>
          <a:bodyPr wrap="square" lIns="0" tIns="0" rIns="0" bIns="0" rtlCol="0" anchor="t"/>
          <a:lstStyle/>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CUDA</a:t>
            </a:r>
            <a:endParaRPr lang="en-US" sz="950" dirty="0"/>
          </a:p>
          <a:p>
            <a:pPr marL="0" indent="0">
              <a:buNone/>
            </a:pPr>
            <a:r>
              <a:rPr lang="en-US" sz="950" kern="0" spc="100" dirty="0">
                <a:solidFill>
                  <a:srgbClr val="111111"/>
                </a:solidFill>
                <a:latin typeface="IBM Plex Mono" pitchFamily="34" charset="0"/>
                <a:ea typeface="IBM Plex Mono" pitchFamily="34" charset="-122"/>
                <a:cs typeface="IBM Plex Mono" pitchFamily="34" charset="-120"/>
              </a:rPr>
              <a:t>ON THE GPU</a:t>
            </a:r>
            <a:endParaRPr lang="en-US" sz="950" dirty="0"/>
          </a:p>
        </p:txBody>
      </p:sp>
      <p:sp>
        <p:nvSpPr>
          <p:cNvPr id="24" name="Text 22"/>
          <p:cNvSpPr/>
          <p:nvPr/>
        </p:nvSpPr>
        <p:spPr>
          <a:xfrm>
            <a:off x="2743200" y="3401568"/>
            <a:ext cx="10515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rank 0</a:t>
            </a:r>
            <a:endParaRPr lang="en-US" sz="1000" dirty="0"/>
          </a:p>
        </p:txBody>
      </p:sp>
      <p:sp>
        <p:nvSpPr>
          <p:cNvPr id="25" name="Text 23"/>
          <p:cNvSpPr/>
          <p:nvPr/>
        </p:nvSpPr>
        <p:spPr>
          <a:xfrm>
            <a:off x="3931920" y="3401568"/>
            <a:ext cx="10515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rank 1</a:t>
            </a:r>
            <a:endParaRPr lang="en-US" sz="1000" dirty="0"/>
          </a:p>
        </p:txBody>
      </p:sp>
      <p:sp>
        <p:nvSpPr>
          <p:cNvPr id="26" name="Text 24"/>
          <p:cNvSpPr/>
          <p:nvPr/>
        </p:nvSpPr>
        <p:spPr>
          <a:xfrm>
            <a:off x="5120640" y="3401568"/>
            <a:ext cx="10515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rank 2</a:t>
            </a:r>
            <a:endParaRPr lang="en-US" sz="1000" dirty="0"/>
          </a:p>
        </p:txBody>
      </p:sp>
      <p:sp>
        <p:nvSpPr>
          <p:cNvPr id="27" name="Text 25"/>
          <p:cNvSpPr/>
          <p:nvPr/>
        </p:nvSpPr>
        <p:spPr>
          <a:xfrm>
            <a:off x="6309360" y="3401568"/>
            <a:ext cx="10515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rank 3</a:t>
            </a:r>
            <a:endParaRPr lang="en-US" sz="1000" dirty="0"/>
          </a:p>
        </p:txBody>
      </p:sp>
      <p:sp>
        <p:nvSpPr>
          <p:cNvPr id="28" name="Text 26"/>
          <p:cNvSpPr txBox="1"/>
          <p:nvPr/>
        </p:nvSpPr>
        <p:spPr>
          <a:xfrm>
            <a:off x="7635240" y="3383280"/>
            <a:ext cx="3867912" cy="54864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each rank owns one contiguous Morton block;</a:t>
            </a:r>
            <a:endParaRPr lang="en-US" sz="950" dirty="0"/>
          </a:p>
          <a:p>
            <a:pPr marL="0" indent="0">
              <a:buNone/>
            </a:pPr>
            <a:r>
              <a:rPr lang="en-US" sz="950" dirty="0">
                <a:solidFill>
                  <a:srgbClr val="6B6862"/>
                </a:solidFill>
                <a:latin typeface="IBM Plex Mono" pitchFamily="34" charset="0"/>
                <a:ea typeface="IBM Plex Mono" pitchFamily="34" charset="-122"/>
                <a:cs typeface="IBM Plex Mono" pitchFamily="34" charset="-120"/>
              </a:rPr>
              <a:t>positions and velocities exchanged every step</a:t>
            </a:r>
            <a:endParaRPr lang="en-US" sz="950" dirty="0"/>
          </a:p>
        </p:txBody>
      </p:sp>
      <p:sp>
        <p:nvSpPr>
          <p:cNvPr id="29" name="Text 27"/>
          <p:cNvSpPr/>
          <p:nvPr/>
        </p:nvSpPr>
        <p:spPr>
          <a:xfrm>
            <a:off x="274320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T0</a:t>
            </a:r>
            <a:endParaRPr lang="en-US" sz="1000" dirty="0"/>
          </a:p>
        </p:txBody>
      </p:sp>
      <p:sp>
        <p:nvSpPr>
          <p:cNvPr id="30" name="Text 28"/>
          <p:cNvSpPr/>
          <p:nvPr/>
        </p:nvSpPr>
        <p:spPr>
          <a:xfrm>
            <a:off x="329184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T1</a:t>
            </a:r>
            <a:endParaRPr lang="en-US" sz="1000" dirty="0"/>
          </a:p>
        </p:txBody>
      </p:sp>
      <p:sp>
        <p:nvSpPr>
          <p:cNvPr id="31" name="Text 29"/>
          <p:cNvSpPr/>
          <p:nvPr/>
        </p:nvSpPr>
        <p:spPr>
          <a:xfrm>
            <a:off x="384048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T2</a:t>
            </a:r>
            <a:endParaRPr lang="en-US" sz="1000" dirty="0"/>
          </a:p>
        </p:txBody>
      </p:sp>
      <p:sp>
        <p:nvSpPr>
          <p:cNvPr id="32" name="Text 30"/>
          <p:cNvSpPr/>
          <p:nvPr/>
        </p:nvSpPr>
        <p:spPr>
          <a:xfrm>
            <a:off x="438912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T3</a:t>
            </a:r>
            <a:endParaRPr lang="en-US" sz="1000" dirty="0"/>
          </a:p>
        </p:txBody>
      </p:sp>
      <p:sp>
        <p:nvSpPr>
          <p:cNvPr id="33" name="Text 31"/>
          <p:cNvSpPr/>
          <p:nvPr/>
        </p:nvSpPr>
        <p:spPr>
          <a:xfrm>
            <a:off x="493776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T4</a:t>
            </a:r>
            <a:endParaRPr lang="en-US" sz="1000" dirty="0"/>
          </a:p>
        </p:txBody>
      </p:sp>
      <p:sp>
        <p:nvSpPr>
          <p:cNvPr id="34" name="Text 32"/>
          <p:cNvSpPr/>
          <p:nvPr/>
        </p:nvSpPr>
        <p:spPr>
          <a:xfrm>
            <a:off x="548640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T5</a:t>
            </a:r>
            <a:endParaRPr lang="en-US" sz="1000" dirty="0"/>
          </a:p>
        </p:txBody>
      </p:sp>
      <p:sp>
        <p:nvSpPr>
          <p:cNvPr id="35" name="Text 33"/>
          <p:cNvSpPr/>
          <p:nvPr/>
        </p:nvSpPr>
        <p:spPr>
          <a:xfrm>
            <a:off x="603504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T6</a:t>
            </a:r>
            <a:endParaRPr lang="en-US" sz="1000" dirty="0"/>
          </a:p>
        </p:txBody>
      </p:sp>
      <p:sp>
        <p:nvSpPr>
          <p:cNvPr id="36" name="Text 34"/>
          <p:cNvSpPr/>
          <p:nvPr/>
        </p:nvSpPr>
        <p:spPr>
          <a:xfrm>
            <a:off x="6583680" y="4416552"/>
            <a:ext cx="45720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T7</a:t>
            </a:r>
            <a:endParaRPr lang="en-US" sz="1000" dirty="0"/>
          </a:p>
        </p:txBody>
      </p:sp>
      <p:sp>
        <p:nvSpPr>
          <p:cNvPr id="37" name="Text 35"/>
          <p:cNvSpPr txBox="1"/>
          <p:nvPr/>
        </p:nvSpPr>
        <p:spPr>
          <a:xfrm>
            <a:off x="2743200" y="4873752"/>
            <a:ext cx="4389120" cy="2286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#pragma omp for schedule(runtime)</a:t>
            </a:r>
            <a:endParaRPr lang="en-US" sz="950" dirty="0"/>
          </a:p>
        </p:txBody>
      </p:sp>
      <p:sp>
        <p:nvSpPr>
          <p:cNvPr id="38" name="Text 36"/>
          <p:cNvSpPr/>
          <p:nvPr/>
        </p:nvSpPr>
        <p:spPr>
          <a:xfrm>
            <a:off x="7635240" y="4416552"/>
            <a:ext cx="3867912" cy="384048"/>
          </a:xfrm>
          <a:prstGeom prst="rect">
            <a:avLst/>
          </a:prstGeom>
          <a:solidFill>
            <a:srgbClr val="F5F3EE"/>
          </a:solidFill>
          <a:ln w="15875">
            <a:solidFill>
              <a:srgbClr val="D9472B"/>
            </a:solidFill>
          </a:ln>
        </p:spPr>
        <p:txBody>
          <a:bodyPr wrap="square" lIns="50800" tIns="50800" rIns="50800" bIns="50800" rtlCol="0" anchor="ctr"/>
          <a:lstStyle/>
          <a:p>
            <a:pPr marL="0" indent="0" algn="ctr">
              <a:buNone/>
            </a:pPr>
            <a:r>
              <a:rPr lang="en-US" sz="1050" dirty="0">
                <a:solidFill>
                  <a:srgbClr val="D9472B"/>
                </a:solidFill>
                <a:latin typeface="IBM Plex Mono" pitchFamily="34" charset="0"/>
                <a:ea typeface="IBM Plex Mono" pitchFamily="34" charset="-122"/>
                <a:cs typeface="IBM Plex Mono" pitchFamily="34" charset="-120"/>
              </a:rPr>
              <a:t>controller → omp_set_schedule()</a:t>
            </a:r>
            <a:endParaRPr lang="en-US" sz="1050" dirty="0"/>
          </a:p>
        </p:txBody>
      </p:sp>
      <p:sp>
        <p:nvSpPr>
          <p:cNvPr id="39" name="Text 37"/>
          <p:cNvSpPr/>
          <p:nvPr/>
        </p:nvSpPr>
        <p:spPr>
          <a:xfrm>
            <a:off x="2743200" y="5422392"/>
            <a:ext cx="42519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tiled direct kernel  ·  256-body shared-memory tiles</a:t>
            </a:r>
            <a:endParaRPr lang="en-US" sz="1000" dirty="0"/>
          </a:p>
        </p:txBody>
      </p:sp>
      <p:sp>
        <p:nvSpPr>
          <p:cNvPr id="40" name="Text 38"/>
          <p:cNvSpPr/>
          <p:nvPr/>
        </p:nvSpPr>
        <p:spPr>
          <a:xfrm>
            <a:off x="7251192" y="5422392"/>
            <a:ext cx="4251960" cy="384048"/>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000" dirty="0">
                <a:solidFill>
                  <a:srgbClr val="111111"/>
                </a:solidFill>
                <a:latin typeface="IBM Plex Mono" pitchFamily="34" charset="0"/>
                <a:ea typeface="IBM Plex Mono" pitchFamily="34" charset="-122"/>
                <a:cs typeface="IBM Plex Mono" pitchFamily="34" charset="-120"/>
              </a:rPr>
              <a:t>near-field kernel  ·  leaf ranges from the CPU walk</a:t>
            </a:r>
            <a:endParaRPr lang="en-US" sz="1000" dirty="0"/>
          </a:p>
        </p:txBody>
      </p:sp>
      <p:sp>
        <p:nvSpPr>
          <p:cNvPr id="41" name="Text 39"/>
          <p:cNvSpPr txBox="1"/>
          <p:nvPr/>
        </p:nvSpPr>
        <p:spPr>
          <a:xfrm>
            <a:off x="2743200" y="5897880"/>
            <a:ext cx="8759952" cy="2286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compiled at run time with NVRTC for the detected GPU (no nvcc / MSVC needed)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04</a:t>
            </a:r>
            <a:r>
              <a:rPr lang="en-US" sz="1000" kern="0" spc="150" dirty="0">
                <a:solidFill>
                  <a:srgbClr val="6B6862"/>
                </a:solidFill>
                <a:latin typeface="IBM Plex Mono" pitchFamily="34" charset="0"/>
                <a:ea typeface="IBM Plex Mono" pitchFamily="34" charset="-122"/>
                <a:cs typeface="IBM Plex Mono" pitchFamily="34" charset="-120"/>
              </a:rPr>
              <a:t>  —  ADAPTIVE CONTROLLER</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The controller switches schedule when measured imbalance crosses a threshold</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λ = max(tᵢ) / mean(tᵢ) − 1 over a k = 5 step window, with hysteresis between 0.05 and 0.15.</a:t>
            </a:r>
            <a:endParaRPr lang="en-US" sz="1500" dirty="0"/>
          </a:p>
        </p:txBody>
      </p:sp>
      <p:sp>
        <p:nvSpPr>
          <p:cNvPr id="5" name="Shape 3"/>
          <p:cNvSpPr/>
          <p:nvPr/>
        </p:nvSpPr>
        <p:spPr>
          <a:xfrm>
            <a:off x="685800" y="2514600"/>
            <a:ext cx="4023360" cy="0"/>
          </a:xfrm>
          <a:prstGeom prst="line">
            <a:avLst/>
          </a:prstGeom>
          <a:noFill/>
          <a:ln w="9525">
            <a:solidFill>
              <a:srgbClr val="D9D5CC"/>
            </a:solidFill>
            <a:prstDash val="solid"/>
          </a:ln>
        </p:spPr>
      </p:sp>
      <p:sp>
        <p:nvSpPr>
          <p:cNvPr id="6" name="Text 4"/>
          <p:cNvSpPr txBox="1"/>
          <p:nvPr/>
        </p:nvSpPr>
        <p:spPr>
          <a:xfrm>
            <a:off x="685800" y="2670048"/>
            <a:ext cx="502920" cy="365760"/>
          </a:xfrm>
          <a:prstGeom prst="rect">
            <a:avLst/>
          </a:prstGeom>
          <a:noFill/>
          <a:ln/>
        </p:spPr>
        <p:txBody>
          <a:bodyPr wrap="square" lIns="0" tIns="0" rIns="0" bIns="0" rtlCol="0" anchor="t"/>
          <a:lstStyle/>
          <a:p>
            <a:pPr marL="0" indent="0">
              <a:buNone/>
            </a:pPr>
            <a:r>
              <a:rPr lang="en-US" sz="1300" b="1" dirty="0">
                <a:solidFill>
                  <a:srgbClr val="D9472B"/>
                </a:solidFill>
                <a:latin typeface="IBM Plex Mono" pitchFamily="34" charset="0"/>
                <a:ea typeface="IBM Plex Mono" pitchFamily="34" charset="-122"/>
                <a:cs typeface="IBM Plex Mono" pitchFamily="34" charset="-120"/>
              </a:rPr>
              <a:t>01</a:t>
            </a:r>
            <a:endParaRPr lang="en-US" sz="1300" dirty="0"/>
          </a:p>
        </p:txBody>
      </p:sp>
      <p:sp>
        <p:nvSpPr>
          <p:cNvPr id="7" name="Text 5"/>
          <p:cNvSpPr txBox="1"/>
          <p:nvPr/>
        </p:nvSpPr>
        <p:spPr>
          <a:xfrm>
            <a:off x="1234440" y="2670048"/>
            <a:ext cx="3474720" cy="50292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time each thread's share of the force loop</a:t>
            </a:r>
            <a:endParaRPr lang="en-US" sz="1300" dirty="0"/>
          </a:p>
        </p:txBody>
      </p:sp>
      <p:sp>
        <p:nvSpPr>
          <p:cNvPr id="8" name="Shape 6"/>
          <p:cNvSpPr/>
          <p:nvPr/>
        </p:nvSpPr>
        <p:spPr>
          <a:xfrm>
            <a:off x="685800" y="3227832"/>
            <a:ext cx="4023360" cy="0"/>
          </a:xfrm>
          <a:prstGeom prst="line">
            <a:avLst/>
          </a:prstGeom>
          <a:noFill/>
          <a:ln w="9525">
            <a:solidFill>
              <a:srgbClr val="D9D5CC"/>
            </a:solidFill>
            <a:prstDash val="solid"/>
          </a:ln>
        </p:spPr>
      </p:sp>
      <p:sp>
        <p:nvSpPr>
          <p:cNvPr id="9" name="Text 7"/>
          <p:cNvSpPr txBox="1"/>
          <p:nvPr/>
        </p:nvSpPr>
        <p:spPr>
          <a:xfrm>
            <a:off x="685800" y="3383280"/>
            <a:ext cx="502920" cy="365760"/>
          </a:xfrm>
          <a:prstGeom prst="rect">
            <a:avLst/>
          </a:prstGeom>
          <a:noFill/>
          <a:ln/>
        </p:spPr>
        <p:txBody>
          <a:bodyPr wrap="square" lIns="0" tIns="0" rIns="0" bIns="0" rtlCol="0" anchor="t"/>
          <a:lstStyle/>
          <a:p>
            <a:pPr marL="0" indent="0">
              <a:buNone/>
            </a:pPr>
            <a:r>
              <a:rPr lang="en-US" sz="1300" b="1" dirty="0">
                <a:solidFill>
                  <a:srgbClr val="D9472B"/>
                </a:solidFill>
                <a:latin typeface="IBM Plex Mono" pitchFamily="34" charset="0"/>
                <a:ea typeface="IBM Plex Mono" pitchFamily="34" charset="-122"/>
                <a:cs typeface="IBM Plex Mono" pitchFamily="34" charset="-120"/>
              </a:rPr>
              <a:t>02</a:t>
            </a:r>
            <a:endParaRPr lang="en-US" sz="1300" dirty="0"/>
          </a:p>
        </p:txBody>
      </p:sp>
      <p:sp>
        <p:nvSpPr>
          <p:cNvPr id="10" name="Text 8"/>
          <p:cNvSpPr txBox="1"/>
          <p:nvPr/>
        </p:nvSpPr>
        <p:spPr>
          <a:xfrm>
            <a:off x="1234440" y="3383280"/>
            <a:ext cx="3474720" cy="50292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accumulate over a window of k = 5 steps</a:t>
            </a:r>
            <a:endParaRPr lang="en-US" sz="1300" dirty="0"/>
          </a:p>
        </p:txBody>
      </p:sp>
      <p:sp>
        <p:nvSpPr>
          <p:cNvPr id="11" name="Shape 9"/>
          <p:cNvSpPr/>
          <p:nvPr/>
        </p:nvSpPr>
        <p:spPr>
          <a:xfrm>
            <a:off x="685800" y="3941064"/>
            <a:ext cx="4023360" cy="0"/>
          </a:xfrm>
          <a:prstGeom prst="line">
            <a:avLst/>
          </a:prstGeom>
          <a:noFill/>
          <a:ln w="9525">
            <a:solidFill>
              <a:srgbClr val="D9D5CC"/>
            </a:solidFill>
            <a:prstDash val="solid"/>
          </a:ln>
        </p:spPr>
      </p:sp>
      <p:sp>
        <p:nvSpPr>
          <p:cNvPr id="12" name="Text 10"/>
          <p:cNvSpPr txBox="1"/>
          <p:nvPr/>
        </p:nvSpPr>
        <p:spPr>
          <a:xfrm>
            <a:off x="685800" y="4096512"/>
            <a:ext cx="502920" cy="365760"/>
          </a:xfrm>
          <a:prstGeom prst="rect">
            <a:avLst/>
          </a:prstGeom>
          <a:noFill/>
          <a:ln/>
        </p:spPr>
        <p:txBody>
          <a:bodyPr wrap="square" lIns="0" tIns="0" rIns="0" bIns="0" rtlCol="0" anchor="t"/>
          <a:lstStyle/>
          <a:p>
            <a:pPr marL="0" indent="0">
              <a:buNone/>
            </a:pPr>
            <a:r>
              <a:rPr lang="en-US" sz="1300" b="1" dirty="0">
                <a:solidFill>
                  <a:srgbClr val="D9472B"/>
                </a:solidFill>
                <a:latin typeface="IBM Plex Mono" pitchFamily="34" charset="0"/>
                <a:ea typeface="IBM Plex Mono" pitchFamily="34" charset="-122"/>
                <a:cs typeface="IBM Plex Mono" pitchFamily="34" charset="-120"/>
              </a:rPr>
              <a:t>03</a:t>
            </a:r>
            <a:endParaRPr lang="en-US" sz="1300" dirty="0"/>
          </a:p>
        </p:txBody>
      </p:sp>
      <p:sp>
        <p:nvSpPr>
          <p:cNvPr id="13" name="Text 11"/>
          <p:cNvSpPr txBox="1"/>
          <p:nvPr/>
        </p:nvSpPr>
        <p:spPr>
          <a:xfrm>
            <a:off x="1234440" y="4096512"/>
            <a:ext cx="3474720" cy="50292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compute λ for the window</a:t>
            </a:r>
            <a:endParaRPr lang="en-US" sz="1300" dirty="0"/>
          </a:p>
        </p:txBody>
      </p:sp>
      <p:sp>
        <p:nvSpPr>
          <p:cNvPr id="14" name="Shape 12"/>
          <p:cNvSpPr/>
          <p:nvPr/>
        </p:nvSpPr>
        <p:spPr>
          <a:xfrm>
            <a:off x="685800" y="4654296"/>
            <a:ext cx="4023360" cy="0"/>
          </a:xfrm>
          <a:prstGeom prst="line">
            <a:avLst/>
          </a:prstGeom>
          <a:noFill/>
          <a:ln w="9525">
            <a:solidFill>
              <a:srgbClr val="D9D5CC"/>
            </a:solidFill>
            <a:prstDash val="solid"/>
          </a:ln>
        </p:spPr>
      </p:sp>
      <p:sp>
        <p:nvSpPr>
          <p:cNvPr id="15" name="Text 13"/>
          <p:cNvSpPr txBox="1"/>
          <p:nvPr/>
        </p:nvSpPr>
        <p:spPr>
          <a:xfrm>
            <a:off x="685800" y="4809744"/>
            <a:ext cx="502920" cy="365760"/>
          </a:xfrm>
          <a:prstGeom prst="rect">
            <a:avLst/>
          </a:prstGeom>
          <a:noFill/>
          <a:ln/>
        </p:spPr>
        <p:txBody>
          <a:bodyPr wrap="square" lIns="0" tIns="0" rIns="0" bIns="0" rtlCol="0" anchor="t"/>
          <a:lstStyle/>
          <a:p>
            <a:pPr marL="0" indent="0">
              <a:buNone/>
            </a:pPr>
            <a:r>
              <a:rPr lang="en-US" sz="1300" b="1" dirty="0">
                <a:solidFill>
                  <a:srgbClr val="D9472B"/>
                </a:solidFill>
                <a:latin typeface="IBM Plex Mono" pitchFamily="34" charset="0"/>
                <a:ea typeface="IBM Plex Mono" pitchFamily="34" charset="-122"/>
                <a:cs typeface="IBM Plex Mono" pitchFamily="34" charset="-120"/>
              </a:rPr>
              <a:t>04</a:t>
            </a:r>
            <a:endParaRPr lang="en-US" sz="1300" dirty="0"/>
          </a:p>
        </p:txBody>
      </p:sp>
      <p:sp>
        <p:nvSpPr>
          <p:cNvPr id="16" name="Text 14"/>
          <p:cNvSpPr txBox="1"/>
          <p:nvPr/>
        </p:nvSpPr>
        <p:spPr>
          <a:xfrm>
            <a:off x="1234440" y="4809744"/>
            <a:ext cx="3474720" cy="50292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compare with 0.15 (switch up) and 0.05 (switch back)</a:t>
            </a:r>
            <a:endParaRPr lang="en-US" sz="1300" dirty="0"/>
          </a:p>
        </p:txBody>
      </p:sp>
      <p:sp>
        <p:nvSpPr>
          <p:cNvPr id="17" name="Shape 15"/>
          <p:cNvSpPr/>
          <p:nvPr/>
        </p:nvSpPr>
        <p:spPr>
          <a:xfrm>
            <a:off x="685800" y="5367528"/>
            <a:ext cx="4023360" cy="0"/>
          </a:xfrm>
          <a:prstGeom prst="line">
            <a:avLst/>
          </a:prstGeom>
          <a:noFill/>
          <a:ln w="9525">
            <a:solidFill>
              <a:srgbClr val="D9D5CC"/>
            </a:solidFill>
            <a:prstDash val="solid"/>
          </a:ln>
        </p:spPr>
      </p:sp>
      <p:sp>
        <p:nvSpPr>
          <p:cNvPr id="18" name="Text 16"/>
          <p:cNvSpPr txBox="1"/>
          <p:nvPr/>
        </p:nvSpPr>
        <p:spPr>
          <a:xfrm>
            <a:off x="685800" y="5522976"/>
            <a:ext cx="502920" cy="365760"/>
          </a:xfrm>
          <a:prstGeom prst="rect">
            <a:avLst/>
          </a:prstGeom>
          <a:noFill/>
          <a:ln/>
        </p:spPr>
        <p:txBody>
          <a:bodyPr wrap="square" lIns="0" tIns="0" rIns="0" bIns="0" rtlCol="0" anchor="t"/>
          <a:lstStyle/>
          <a:p>
            <a:pPr marL="0" indent="0">
              <a:buNone/>
            </a:pPr>
            <a:r>
              <a:rPr lang="en-US" sz="1300" b="1" dirty="0">
                <a:solidFill>
                  <a:srgbClr val="D9472B"/>
                </a:solidFill>
                <a:latin typeface="IBM Plex Mono" pitchFamily="34" charset="0"/>
                <a:ea typeface="IBM Plex Mono" pitchFamily="34" charset="-122"/>
                <a:cs typeface="IBM Plex Mono" pitchFamily="34" charset="-120"/>
              </a:rPr>
              <a:t>05</a:t>
            </a:r>
            <a:endParaRPr lang="en-US" sz="1300" dirty="0"/>
          </a:p>
        </p:txBody>
      </p:sp>
      <p:sp>
        <p:nvSpPr>
          <p:cNvPr id="19" name="Text 17"/>
          <p:cNvSpPr txBox="1"/>
          <p:nvPr/>
        </p:nvSpPr>
        <p:spPr>
          <a:xfrm>
            <a:off x="1234440" y="5522976"/>
            <a:ext cx="3474720" cy="50292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omp_set_schedule(policy, chunk = 8)</a:t>
            </a:r>
            <a:endParaRPr lang="en-US" sz="1300" dirty="0"/>
          </a:p>
        </p:txBody>
      </p:sp>
      <p:sp>
        <p:nvSpPr>
          <p:cNvPr id="20" name="Shape 18"/>
          <p:cNvSpPr/>
          <p:nvPr/>
        </p:nvSpPr>
        <p:spPr>
          <a:xfrm>
            <a:off x="685800" y="6080760"/>
            <a:ext cx="4023360" cy="0"/>
          </a:xfrm>
          <a:prstGeom prst="line">
            <a:avLst/>
          </a:prstGeom>
          <a:noFill/>
          <a:ln w="9525">
            <a:solidFill>
              <a:srgbClr val="D9D5CC"/>
            </a:solidFill>
            <a:prstDash val="solid"/>
          </a:ln>
        </p:spPr>
      </p:sp>
      <p:sp>
        <p:nvSpPr>
          <p:cNvPr id="21" name="Text 19"/>
          <p:cNvSpPr/>
          <p:nvPr/>
        </p:nvSpPr>
        <p:spPr>
          <a:xfrm>
            <a:off x="5394960" y="2651760"/>
            <a:ext cx="2194560" cy="914400"/>
          </a:xfrm>
          <a:prstGeom prst="rect">
            <a:avLst/>
          </a:prstGeom>
          <a:solidFill>
            <a:srgbClr val="F5F3EE"/>
          </a:solidFill>
          <a:ln w="9525">
            <a:solidFill>
              <a:srgbClr val="111111"/>
            </a:solidFill>
          </a:ln>
        </p:spPr>
        <p:txBody>
          <a:bodyPr wrap="square" lIns="50800" tIns="50800" rIns="50800" bIns="50800" rtlCol="0" anchor="ctr"/>
          <a:lstStyle/>
          <a:p>
            <a:pPr marL="0" indent="0" algn="ctr">
              <a:buNone/>
            </a:pPr>
            <a:r>
              <a:rPr lang="en-US" sz="1400" b="1" dirty="0">
                <a:solidFill>
                  <a:srgbClr val="111111"/>
                </a:solidFill>
                <a:latin typeface="IBM Plex Mono" pitchFamily="34" charset="0"/>
                <a:ea typeface="IBM Plex Mono" pitchFamily="34" charset="-122"/>
                <a:cs typeface="IBM Plex Mono" pitchFamily="34" charset="-120"/>
              </a:rPr>
              <a:t>STATIC</a:t>
            </a:r>
            <a:endParaRPr lang="en-US" sz="1100" dirty="0"/>
          </a:p>
          <a:p>
            <a:pPr marL="0" indent="0" algn="ctr">
              <a:buNone/>
            </a:pPr>
            <a:r>
              <a:rPr lang="en-US" sz="950" dirty="0">
                <a:solidFill>
                  <a:srgbClr val="6B6862"/>
                </a:solidFill>
                <a:latin typeface="IBM Plex Mono" pitchFamily="34" charset="0"/>
                <a:ea typeface="IBM Plex Mono" pitchFamily="34" charset="-122"/>
                <a:cs typeface="IBM Plex Mono" pitchFamily="34" charset="-120"/>
              </a:rPr>
              <a:t>equal contiguous blocks</a:t>
            </a:r>
            <a:endParaRPr lang="en-US" sz="1100" dirty="0"/>
          </a:p>
        </p:txBody>
      </p:sp>
      <p:sp>
        <p:nvSpPr>
          <p:cNvPr id="22" name="Text 20"/>
          <p:cNvSpPr/>
          <p:nvPr/>
        </p:nvSpPr>
        <p:spPr>
          <a:xfrm>
            <a:off x="9308592" y="2651760"/>
            <a:ext cx="2194560" cy="914400"/>
          </a:xfrm>
          <a:prstGeom prst="rect">
            <a:avLst/>
          </a:prstGeom>
          <a:solidFill>
            <a:srgbClr val="F5F3EE"/>
          </a:solidFill>
          <a:ln w="15875">
            <a:solidFill>
              <a:srgbClr val="D9472B"/>
            </a:solidFill>
          </a:ln>
        </p:spPr>
        <p:txBody>
          <a:bodyPr wrap="square" lIns="50800" tIns="50800" rIns="50800" bIns="50800" rtlCol="0" anchor="ctr"/>
          <a:lstStyle/>
          <a:p>
            <a:pPr marL="0" indent="0" algn="ctr">
              <a:buNone/>
            </a:pPr>
            <a:r>
              <a:rPr lang="en-US" sz="1400" b="1" dirty="0">
                <a:solidFill>
                  <a:srgbClr val="D9472B"/>
                </a:solidFill>
                <a:latin typeface="IBM Plex Mono" pitchFamily="34" charset="0"/>
                <a:ea typeface="IBM Plex Mono" pitchFamily="34" charset="-122"/>
                <a:cs typeface="IBM Plex Mono" pitchFamily="34" charset="-120"/>
              </a:rPr>
              <a:t>DYNAMIC</a:t>
            </a:r>
            <a:endParaRPr lang="en-US" sz="1100" dirty="0"/>
          </a:p>
          <a:p>
            <a:pPr marL="0" indent="0" algn="ctr">
              <a:buNone/>
            </a:pPr>
            <a:r>
              <a:rPr lang="en-US" sz="950" dirty="0">
                <a:solidFill>
                  <a:srgbClr val="6B6862"/>
                </a:solidFill>
                <a:latin typeface="IBM Plex Mono" pitchFamily="34" charset="0"/>
                <a:ea typeface="IBM Plex Mono" pitchFamily="34" charset="-122"/>
                <a:cs typeface="IBM Plex Mono" pitchFamily="34" charset="-120"/>
              </a:rPr>
              <a:t>chunks of 8 on demand</a:t>
            </a:r>
            <a:endParaRPr lang="en-US" sz="1100" dirty="0"/>
          </a:p>
        </p:txBody>
      </p:sp>
      <p:sp>
        <p:nvSpPr>
          <p:cNvPr id="23" name="Shape 21"/>
          <p:cNvSpPr/>
          <p:nvPr/>
        </p:nvSpPr>
        <p:spPr>
          <a:xfrm>
            <a:off x="7680960" y="2926080"/>
            <a:ext cx="1536192" cy="0"/>
          </a:xfrm>
          <a:prstGeom prst="line">
            <a:avLst/>
          </a:prstGeom>
          <a:noFill/>
          <a:ln w="12700">
            <a:solidFill>
              <a:srgbClr val="111111"/>
            </a:solidFill>
            <a:prstDash val="solid"/>
            <a:tailEnd type="triangle"/>
          </a:ln>
        </p:spPr>
      </p:sp>
      <p:sp>
        <p:nvSpPr>
          <p:cNvPr id="24" name="Shape 22"/>
          <p:cNvSpPr/>
          <p:nvPr/>
        </p:nvSpPr>
        <p:spPr>
          <a:xfrm flipH="1">
            <a:off x="7680960" y="3310128"/>
            <a:ext cx="1536192" cy="0"/>
          </a:xfrm>
          <a:prstGeom prst="line">
            <a:avLst/>
          </a:prstGeom>
          <a:noFill/>
          <a:ln w="12700">
            <a:solidFill>
              <a:srgbClr val="111111"/>
            </a:solidFill>
            <a:prstDash val="solid"/>
            <a:tailEnd type="triangle"/>
          </a:ln>
        </p:spPr>
      </p:sp>
      <p:sp>
        <p:nvSpPr>
          <p:cNvPr id="25" name="Text 23"/>
          <p:cNvSpPr txBox="1"/>
          <p:nvPr/>
        </p:nvSpPr>
        <p:spPr>
          <a:xfrm>
            <a:off x="7589520" y="2633472"/>
            <a:ext cx="1719072" cy="228600"/>
          </a:xfrm>
          <a:prstGeom prst="rect">
            <a:avLst/>
          </a:prstGeom>
          <a:noFill/>
          <a:ln/>
        </p:spPr>
        <p:txBody>
          <a:bodyPr wrap="square" lIns="0" tIns="0" rIns="0" bIns="0" rtlCol="0" anchor="t"/>
          <a:lstStyle/>
          <a:p>
            <a:pPr marL="0" indent="0" algn="ctr">
              <a:buNone/>
            </a:pPr>
            <a:r>
              <a:rPr lang="en-US" sz="1100" dirty="0">
                <a:solidFill>
                  <a:srgbClr val="111111"/>
                </a:solidFill>
                <a:latin typeface="IBM Plex Mono" pitchFamily="34" charset="0"/>
                <a:ea typeface="IBM Plex Mono" pitchFamily="34" charset="-122"/>
                <a:cs typeface="IBM Plex Mono" pitchFamily="34" charset="-120"/>
              </a:rPr>
              <a:t>λ &gt; 0.15</a:t>
            </a:r>
            <a:endParaRPr lang="en-US" sz="1100" dirty="0"/>
          </a:p>
        </p:txBody>
      </p:sp>
      <p:sp>
        <p:nvSpPr>
          <p:cNvPr id="26" name="Text 24"/>
          <p:cNvSpPr txBox="1"/>
          <p:nvPr/>
        </p:nvSpPr>
        <p:spPr>
          <a:xfrm>
            <a:off x="7589520" y="3383280"/>
            <a:ext cx="1719072" cy="228600"/>
          </a:xfrm>
          <a:prstGeom prst="rect">
            <a:avLst/>
          </a:prstGeom>
          <a:noFill/>
          <a:ln/>
        </p:spPr>
        <p:txBody>
          <a:bodyPr wrap="square" lIns="0" tIns="0" rIns="0" bIns="0" rtlCol="0" anchor="t"/>
          <a:lstStyle/>
          <a:p>
            <a:pPr marL="0" indent="0" algn="ctr">
              <a:buNone/>
            </a:pPr>
            <a:r>
              <a:rPr lang="en-US" sz="1100" dirty="0">
                <a:solidFill>
                  <a:srgbClr val="111111"/>
                </a:solidFill>
                <a:latin typeface="IBM Plex Mono" pitchFamily="34" charset="0"/>
                <a:ea typeface="IBM Plex Mono" pitchFamily="34" charset="-122"/>
                <a:cs typeface="IBM Plex Mono" pitchFamily="34" charset="-120"/>
              </a:rPr>
              <a:t>predicted λ &lt; 0.05</a:t>
            </a:r>
            <a:endParaRPr lang="en-US" sz="1100" dirty="0"/>
          </a:p>
        </p:txBody>
      </p:sp>
      <p:sp>
        <p:nvSpPr>
          <p:cNvPr id="27" name="Shape 25"/>
          <p:cNvSpPr/>
          <p:nvPr/>
        </p:nvSpPr>
        <p:spPr>
          <a:xfrm>
            <a:off x="5394960" y="3931920"/>
            <a:ext cx="6108192" cy="0"/>
          </a:xfrm>
          <a:prstGeom prst="line">
            <a:avLst/>
          </a:prstGeom>
          <a:noFill/>
          <a:ln w="9525">
            <a:solidFill>
              <a:srgbClr val="D9D5CC"/>
            </a:solidFill>
            <a:prstDash val="solid"/>
          </a:ln>
        </p:spPr>
      </p:sp>
      <p:sp>
        <p:nvSpPr>
          <p:cNvPr id="28" name="Text 26"/>
          <p:cNvSpPr txBox="1"/>
          <p:nvPr/>
        </p:nvSpPr>
        <p:spPr>
          <a:xfrm>
            <a:off x="5394960" y="4041648"/>
            <a:ext cx="6108192"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CORRECTION TO ALGORITHM 1</a:t>
            </a:r>
            <a:endParaRPr lang="en-US" sz="900" dirty="0"/>
          </a:p>
        </p:txBody>
      </p:sp>
      <p:sp>
        <p:nvSpPr>
          <p:cNvPr id="29" name="Text 27"/>
          <p:cNvSpPr txBox="1"/>
          <p:nvPr/>
        </p:nvSpPr>
        <p:spPr>
          <a:xfrm>
            <a:off x="5394960" y="4315968"/>
            <a:ext cx="6108192" cy="7772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Under dynamic the measured times are balanced by construction, so λ would always fall below 0.05 and the policy would oscillate. The controller instead predicts the times static would give:</a:t>
            </a:r>
            <a:endParaRPr lang="en-US" sz="1300" dirty="0"/>
          </a:p>
        </p:txBody>
      </p:sp>
      <p:sp>
        <p:nvSpPr>
          <p:cNvPr id="30" name="Text 28"/>
          <p:cNvSpPr txBox="1"/>
          <p:nvPr/>
        </p:nvSpPr>
        <p:spPr>
          <a:xfrm>
            <a:off x="5394960" y="5120640"/>
            <a:ext cx="6108192" cy="411480"/>
          </a:xfrm>
          <a:prstGeom prst="rect">
            <a:avLst/>
          </a:prstGeom>
          <a:noFill/>
          <a:ln/>
        </p:spPr>
        <p:txBody>
          <a:bodyPr wrap="square" lIns="0" tIns="0" rIns="0" bIns="0" rtlCol="0" anchor="t"/>
          <a:lstStyle/>
          <a:p>
            <a:pPr marL="0" indent="0">
              <a:buNone/>
            </a:pPr>
            <a:r>
              <a:rPr lang="en-US" sz="1800" dirty="0">
                <a:solidFill>
                  <a:srgbClr val="111111"/>
                </a:solidFill>
                <a:latin typeface="IBM Plex Mono" pitchFamily="34" charset="0"/>
                <a:ea typeface="IBM Plex Mono" pitchFamily="34" charset="-122"/>
                <a:cs typeface="IBM Plex Mono" pitchFamily="34" charset="-120"/>
              </a:rPr>
              <a:t>T</a:t>
            </a:r>
            <a:r>
              <a:rPr lang="en-US" sz="1800" baseline="-40000" dirty="0">
                <a:solidFill>
                  <a:srgbClr val="111111"/>
                </a:solidFill>
                <a:latin typeface="IBM Plex Mono" pitchFamily="34" charset="0"/>
                <a:ea typeface="IBM Plex Mono" pitchFamily="34" charset="-122"/>
                <a:cs typeface="IBM Plex Mono" pitchFamily="34" charset="-120"/>
              </a:rPr>
              <a:t>i</a:t>
            </a:r>
            <a:r>
              <a:rPr lang="en-US" sz="1800" dirty="0">
                <a:solidFill>
                  <a:srgbClr val="111111"/>
                </a:solidFill>
                <a:latin typeface="IBM Plex Mono" pitchFamily="34" charset="0"/>
                <a:ea typeface="IBM Plex Mono" pitchFamily="34" charset="-122"/>
                <a:cs typeface="IBM Plex Mono" pitchFamily="34" charset="-120"/>
              </a:rPr>
              <a:t> = B</a:t>
            </a:r>
            <a:r>
              <a:rPr lang="en-US" sz="1800" baseline="-40000" dirty="0">
                <a:solidFill>
                  <a:srgbClr val="111111"/>
                </a:solidFill>
                <a:latin typeface="IBM Plex Mono" pitchFamily="34" charset="0"/>
                <a:ea typeface="IBM Plex Mono" pitchFamily="34" charset="-122"/>
                <a:cs typeface="IBM Plex Mono" pitchFamily="34" charset="-120"/>
              </a:rPr>
              <a:t>i</a:t>
            </a:r>
            <a:r>
              <a:rPr lang="en-US" sz="1800" dirty="0">
                <a:solidFill>
                  <a:srgbClr val="111111"/>
                </a:solidFill>
                <a:latin typeface="IBM Plex Mono" pitchFamily="34" charset="0"/>
                <a:ea typeface="IBM Plex Mono" pitchFamily="34" charset="-122"/>
                <a:cs typeface="IBM Plex Mono" pitchFamily="34" charset="-120"/>
              </a:rPr>
              <a:t> / v</a:t>
            </a:r>
            <a:r>
              <a:rPr lang="en-US" sz="1800" baseline="-40000" dirty="0">
                <a:solidFill>
                  <a:srgbClr val="111111"/>
                </a:solidFill>
                <a:latin typeface="IBM Plex Mono" pitchFamily="34" charset="0"/>
                <a:ea typeface="IBM Plex Mono" pitchFamily="34" charset="-122"/>
                <a:cs typeface="IBM Plex Mono" pitchFamily="34" charset="-120"/>
              </a:rPr>
              <a:t>i</a:t>
            </a:r>
            <a:r>
              <a:rPr lang="en-US" sz="1800" dirty="0">
                <a:solidFill>
                  <a:srgbClr val="111111"/>
                </a:solidFill>
                <a:latin typeface="IBM Plex Mono" pitchFamily="34" charset="0"/>
                <a:ea typeface="IBM Plex Mono" pitchFamily="34" charset="-122"/>
                <a:cs typeface="IBM Plex Mono" pitchFamily="34" charset="-120"/>
              </a:rPr>
              <a:t>        v</a:t>
            </a:r>
            <a:r>
              <a:rPr lang="en-US" sz="1800" baseline="-40000" dirty="0">
                <a:solidFill>
                  <a:srgbClr val="111111"/>
                </a:solidFill>
                <a:latin typeface="IBM Plex Mono" pitchFamily="34" charset="0"/>
                <a:ea typeface="IBM Plex Mono" pitchFamily="34" charset="-122"/>
                <a:cs typeface="IBM Plex Mono" pitchFamily="34" charset="-120"/>
              </a:rPr>
              <a:t>i</a:t>
            </a:r>
            <a:r>
              <a:rPr lang="en-US" sz="1800" dirty="0">
                <a:solidFill>
                  <a:srgbClr val="111111"/>
                </a:solidFill>
                <a:latin typeface="IBM Plex Mono" pitchFamily="34" charset="0"/>
                <a:ea typeface="IBM Plex Mono" pitchFamily="34" charset="-122"/>
                <a:cs typeface="IBM Plex Mono" pitchFamily="34" charset="-120"/>
              </a:rPr>
              <a:t> = W</a:t>
            </a:r>
            <a:r>
              <a:rPr lang="en-US" sz="1800" baseline="-40000" dirty="0">
                <a:solidFill>
                  <a:srgbClr val="111111"/>
                </a:solidFill>
                <a:latin typeface="IBM Plex Mono" pitchFamily="34" charset="0"/>
                <a:ea typeface="IBM Plex Mono" pitchFamily="34" charset="-122"/>
                <a:cs typeface="IBM Plex Mono" pitchFamily="34" charset="-120"/>
              </a:rPr>
              <a:t>i</a:t>
            </a:r>
            <a:r>
              <a:rPr lang="en-US" sz="1800" dirty="0">
                <a:solidFill>
                  <a:srgbClr val="111111"/>
                </a:solidFill>
                <a:latin typeface="IBM Plex Mono" pitchFamily="34" charset="0"/>
                <a:ea typeface="IBM Plex Mono" pitchFamily="34" charset="-122"/>
                <a:cs typeface="IBM Plex Mono" pitchFamily="34" charset="-120"/>
              </a:rPr>
              <a:t> / t</a:t>
            </a:r>
            <a:r>
              <a:rPr lang="en-US" sz="1800" baseline="-40000" dirty="0">
                <a:solidFill>
                  <a:srgbClr val="111111"/>
                </a:solidFill>
                <a:latin typeface="IBM Plex Mono" pitchFamily="34" charset="0"/>
                <a:ea typeface="IBM Plex Mono" pitchFamily="34" charset="-122"/>
                <a:cs typeface="IBM Plex Mono" pitchFamily="34" charset="-120"/>
              </a:rPr>
              <a:t>i</a:t>
            </a:r>
            <a:endParaRPr lang="en-US" sz="1800" dirty="0"/>
          </a:p>
        </p:txBody>
      </p:sp>
      <p:sp>
        <p:nvSpPr>
          <p:cNvPr id="31" name="Text 29"/>
          <p:cNvSpPr txBox="1"/>
          <p:nvPr/>
        </p:nvSpPr>
        <p:spPr>
          <a:xfrm>
            <a:off x="5394960" y="5596128"/>
            <a:ext cx="6108192" cy="41148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Tᵢ predicted static time  ·  Bᵢ work in thread i's static block  ·  Wᵢ work it executed. Under static, Tᵢ = tᵢ.</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05</a:t>
            </a:r>
            <a:r>
              <a:rPr lang="en-US" sz="1000" kern="0" spc="150" dirty="0">
                <a:solidFill>
                  <a:srgbClr val="6B6862"/>
                </a:solidFill>
                <a:latin typeface="IBM Plex Mono" pitchFamily="34" charset="0"/>
                <a:ea typeface="IBM Plex Mono" pitchFamily="34" charset="-122"/>
                <a:cs typeface="IBM Plex Mono" pitchFamily="34" charset="-120"/>
              </a:rPr>
              <a:t>  —  EXPERIMENTAL SETUP</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Experiments cover four inputs, three sizes, 1–8 threads and 1–4 ranks</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Medians of three shuffled repetitions on one hybrid laptop, with threads pinned to the performance cores.</a:t>
            </a:r>
            <a:endParaRPr lang="en-US" sz="1500" dirty="0"/>
          </a:p>
        </p:txBody>
      </p:sp>
      <p:sp>
        <p:nvSpPr>
          <p:cNvPr id="5" name="Shape 3"/>
          <p:cNvSpPr/>
          <p:nvPr/>
        </p:nvSpPr>
        <p:spPr>
          <a:xfrm>
            <a:off x="685800" y="2514600"/>
            <a:ext cx="6766560" cy="0"/>
          </a:xfrm>
          <a:prstGeom prst="line">
            <a:avLst/>
          </a:prstGeom>
          <a:noFill/>
          <a:ln w="9525">
            <a:solidFill>
              <a:srgbClr val="D9D5CC"/>
            </a:solidFill>
            <a:prstDash val="solid"/>
          </a:ln>
        </p:spPr>
      </p:sp>
      <p:sp>
        <p:nvSpPr>
          <p:cNvPr id="6" name="Text 4"/>
          <p:cNvSpPr txBox="1"/>
          <p:nvPr/>
        </p:nvSpPr>
        <p:spPr>
          <a:xfrm>
            <a:off x="685800" y="2697480"/>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HARDWARE</a:t>
            </a:r>
            <a:endParaRPr lang="en-US" sz="900" dirty="0"/>
          </a:p>
        </p:txBody>
      </p:sp>
      <p:sp>
        <p:nvSpPr>
          <p:cNvPr id="7" name="Text 5"/>
          <p:cNvSpPr txBox="1"/>
          <p:nvPr/>
        </p:nvSpPr>
        <p:spPr>
          <a:xfrm>
            <a:off x="2148840" y="2660904"/>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Intel i7-14700HX (8 P + 12 E cores)  ·  RTX 4060 Laptop GPU</a:t>
            </a:r>
            <a:endParaRPr lang="en-US" sz="1300" dirty="0"/>
          </a:p>
        </p:txBody>
      </p:sp>
      <p:sp>
        <p:nvSpPr>
          <p:cNvPr id="8" name="Shape 6"/>
          <p:cNvSpPr/>
          <p:nvPr/>
        </p:nvSpPr>
        <p:spPr>
          <a:xfrm>
            <a:off x="685800" y="3099816"/>
            <a:ext cx="6766560" cy="0"/>
          </a:xfrm>
          <a:prstGeom prst="line">
            <a:avLst/>
          </a:prstGeom>
          <a:noFill/>
          <a:ln w="9525">
            <a:solidFill>
              <a:srgbClr val="D9D5CC"/>
            </a:solidFill>
            <a:prstDash val="solid"/>
          </a:ln>
        </p:spPr>
      </p:sp>
      <p:sp>
        <p:nvSpPr>
          <p:cNvPr id="9" name="Text 7"/>
          <p:cNvSpPr txBox="1"/>
          <p:nvPr/>
        </p:nvSpPr>
        <p:spPr>
          <a:xfrm>
            <a:off x="685800" y="3282696"/>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SOFTWARE</a:t>
            </a:r>
            <a:endParaRPr lang="en-US" sz="900" dirty="0"/>
          </a:p>
        </p:txBody>
      </p:sp>
      <p:sp>
        <p:nvSpPr>
          <p:cNvPr id="10" name="Text 8"/>
          <p:cNvSpPr txBox="1"/>
          <p:nvPr/>
        </p:nvSpPr>
        <p:spPr>
          <a:xfrm>
            <a:off x="2148840" y="3246120"/>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GCC 15.1 -O3 -march=native  ·  MS-MPI 10.1  ·  NVRTC 12.9</a:t>
            </a:r>
            <a:endParaRPr lang="en-US" sz="1300" dirty="0"/>
          </a:p>
        </p:txBody>
      </p:sp>
      <p:sp>
        <p:nvSpPr>
          <p:cNvPr id="11" name="Shape 9"/>
          <p:cNvSpPr/>
          <p:nvPr/>
        </p:nvSpPr>
        <p:spPr>
          <a:xfrm>
            <a:off x="685800" y="3685032"/>
            <a:ext cx="6766560" cy="0"/>
          </a:xfrm>
          <a:prstGeom prst="line">
            <a:avLst/>
          </a:prstGeom>
          <a:noFill/>
          <a:ln w="9525">
            <a:solidFill>
              <a:srgbClr val="D9D5CC"/>
            </a:solidFill>
            <a:prstDash val="solid"/>
          </a:ln>
        </p:spPr>
      </p:sp>
      <p:sp>
        <p:nvSpPr>
          <p:cNvPr id="12" name="Text 10"/>
          <p:cNvSpPr txBox="1"/>
          <p:nvPr/>
        </p:nvSpPr>
        <p:spPr>
          <a:xfrm>
            <a:off x="685800" y="3867912"/>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INPUTS</a:t>
            </a:r>
            <a:endParaRPr lang="en-US" sz="900" dirty="0"/>
          </a:p>
        </p:txBody>
      </p:sp>
      <p:sp>
        <p:nvSpPr>
          <p:cNvPr id="13" name="Text 11"/>
          <p:cNvSpPr txBox="1"/>
          <p:nvPr/>
        </p:nvSpPr>
        <p:spPr>
          <a:xfrm>
            <a:off x="2148840" y="3831336"/>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uniform (balanced control)  ·  plummer  ·  collide  ·  collapse</a:t>
            </a:r>
            <a:endParaRPr lang="en-US" sz="1300" dirty="0"/>
          </a:p>
        </p:txBody>
      </p:sp>
      <p:sp>
        <p:nvSpPr>
          <p:cNvPr id="14" name="Shape 12"/>
          <p:cNvSpPr/>
          <p:nvPr/>
        </p:nvSpPr>
        <p:spPr>
          <a:xfrm>
            <a:off x="685800" y="4270248"/>
            <a:ext cx="6766560" cy="0"/>
          </a:xfrm>
          <a:prstGeom prst="line">
            <a:avLst/>
          </a:prstGeom>
          <a:noFill/>
          <a:ln w="9525">
            <a:solidFill>
              <a:srgbClr val="D9D5CC"/>
            </a:solidFill>
            <a:prstDash val="solid"/>
          </a:ln>
        </p:spPr>
      </p:sp>
      <p:sp>
        <p:nvSpPr>
          <p:cNvPr id="15" name="Text 13"/>
          <p:cNvSpPr txBox="1"/>
          <p:nvPr/>
        </p:nvSpPr>
        <p:spPr>
          <a:xfrm>
            <a:off x="685800" y="4453128"/>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SIZES</a:t>
            </a:r>
            <a:endParaRPr lang="en-US" sz="900" dirty="0"/>
          </a:p>
        </p:txBody>
      </p:sp>
      <p:sp>
        <p:nvSpPr>
          <p:cNvPr id="16" name="Text 14"/>
          <p:cNvSpPr txBox="1"/>
          <p:nvPr/>
        </p:nvSpPr>
        <p:spPr>
          <a:xfrm>
            <a:off x="2148840" y="4416552"/>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N = 4,096 · 16,384 · 65,536  ·  150 steps, dt = 0.01, θ = 0.5</a:t>
            </a:r>
            <a:endParaRPr lang="en-US" sz="1300" dirty="0"/>
          </a:p>
        </p:txBody>
      </p:sp>
      <p:sp>
        <p:nvSpPr>
          <p:cNvPr id="17" name="Shape 15"/>
          <p:cNvSpPr/>
          <p:nvPr/>
        </p:nvSpPr>
        <p:spPr>
          <a:xfrm>
            <a:off x="685800" y="4855464"/>
            <a:ext cx="6766560" cy="0"/>
          </a:xfrm>
          <a:prstGeom prst="line">
            <a:avLst/>
          </a:prstGeom>
          <a:noFill/>
          <a:ln w="9525">
            <a:solidFill>
              <a:srgbClr val="D9D5CC"/>
            </a:solidFill>
            <a:prstDash val="solid"/>
          </a:ln>
        </p:spPr>
      </p:sp>
      <p:sp>
        <p:nvSpPr>
          <p:cNvPr id="18" name="Text 16"/>
          <p:cNvSpPr txBox="1"/>
          <p:nvPr/>
        </p:nvSpPr>
        <p:spPr>
          <a:xfrm>
            <a:off x="685800" y="5038344"/>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PARALLEL</a:t>
            </a:r>
            <a:endParaRPr lang="en-US" sz="900" dirty="0"/>
          </a:p>
        </p:txBody>
      </p:sp>
      <p:sp>
        <p:nvSpPr>
          <p:cNvPr id="19" name="Text 17"/>
          <p:cNvSpPr txBox="1"/>
          <p:nvPr/>
        </p:nvSpPr>
        <p:spPr>
          <a:xfrm>
            <a:off x="2148840" y="5001768"/>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1, 2, 4, 8 threads per rank  ·  1, 2, 4 MPI ranks</a:t>
            </a:r>
            <a:endParaRPr lang="en-US" sz="1300" dirty="0"/>
          </a:p>
        </p:txBody>
      </p:sp>
      <p:sp>
        <p:nvSpPr>
          <p:cNvPr id="20" name="Shape 18"/>
          <p:cNvSpPr/>
          <p:nvPr/>
        </p:nvSpPr>
        <p:spPr>
          <a:xfrm>
            <a:off x="685800" y="5440680"/>
            <a:ext cx="6766560" cy="0"/>
          </a:xfrm>
          <a:prstGeom prst="line">
            <a:avLst/>
          </a:prstGeom>
          <a:noFill/>
          <a:ln w="9525">
            <a:solidFill>
              <a:srgbClr val="D9D5CC"/>
            </a:solidFill>
            <a:prstDash val="solid"/>
          </a:ln>
        </p:spPr>
      </p:sp>
      <p:sp>
        <p:nvSpPr>
          <p:cNvPr id="21" name="Text 19"/>
          <p:cNvSpPr txBox="1"/>
          <p:nvPr/>
        </p:nvSpPr>
        <p:spPr>
          <a:xfrm>
            <a:off x="685800" y="5623560"/>
            <a:ext cx="1371600" cy="228600"/>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METRICS</a:t>
            </a:r>
            <a:endParaRPr lang="en-US" sz="900" dirty="0"/>
          </a:p>
        </p:txBody>
      </p:sp>
      <p:sp>
        <p:nvSpPr>
          <p:cNvPr id="22" name="Text 20"/>
          <p:cNvSpPr txBox="1"/>
          <p:nvPr/>
        </p:nvSpPr>
        <p:spPr>
          <a:xfrm>
            <a:off x="2148840" y="5586984"/>
            <a:ext cx="5303520" cy="41148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S(p) = T(1) / T(p)  ·  E(p) = S(p) / p  ·  λ per step</a:t>
            </a:r>
            <a:endParaRPr lang="en-US" sz="1300" dirty="0"/>
          </a:p>
        </p:txBody>
      </p:sp>
      <p:sp>
        <p:nvSpPr>
          <p:cNvPr id="23" name="Shape 21"/>
          <p:cNvSpPr/>
          <p:nvPr/>
        </p:nvSpPr>
        <p:spPr>
          <a:xfrm>
            <a:off x="685800" y="6025896"/>
            <a:ext cx="6766560" cy="0"/>
          </a:xfrm>
          <a:prstGeom prst="line">
            <a:avLst/>
          </a:prstGeom>
          <a:noFill/>
          <a:ln w="9525">
            <a:solidFill>
              <a:srgbClr val="D9D5CC"/>
            </a:solidFill>
            <a:prstDash val="solid"/>
          </a:ln>
        </p:spPr>
      </p:sp>
      <p:sp>
        <p:nvSpPr>
          <p:cNvPr id="24" name="Text 22"/>
          <p:cNvSpPr txBox="1"/>
          <p:nvPr/>
        </p:nvSpPr>
        <p:spPr>
          <a:xfrm>
            <a:off x="8183880" y="2514600"/>
            <a:ext cx="3319272"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CORRECTNESS</a:t>
            </a:r>
            <a:endParaRPr lang="en-US" sz="900" dirty="0"/>
          </a:p>
        </p:txBody>
      </p:sp>
      <p:sp>
        <p:nvSpPr>
          <p:cNvPr id="25" name="Text 23"/>
          <p:cNvSpPr txBox="1"/>
          <p:nvPr/>
        </p:nvSpPr>
        <p:spPr>
          <a:xfrm>
            <a:off x="8183880" y="2788920"/>
            <a:ext cx="3319272" cy="914400"/>
          </a:xfrm>
          <a:prstGeom prst="rect">
            <a:avLst/>
          </a:prstGeom>
          <a:noFill/>
          <a:ln/>
        </p:spPr>
        <p:txBody>
          <a:bodyPr wrap="square" lIns="0" tIns="0" rIns="0" bIns="0" rtlCol="0" anchor="t"/>
          <a:lstStyle/>
          <a:p>
            <a:pPr marL="0" indent="0">
              <a:buNone/>
            </a:pPr>
            <a:r>
              <a:rPr lang="en-US" sz="5400" b="1" dirty="0">
                <a:solidFill>
                  <a:srgbClr val="D9472B"/>
                </a:solidFill>
                <a:latin typeface="IBM Plex Mono" pitchFamily="34" charset="0"/>
                <a:ea typeface="IBM Plex Mono" pitchFamily="34" charset="-122"/>
                <a:cs typeface="IBM Plex Mono" pitchFamily="34" charset="-120"/>
              </a:rPr>
              <a:t>8/8</a:t>
            </a:r>
            <a:endParaRPr lang="en-US" sz="5400" dirty="0"/>
          </a:p>
        </p:txBody>
      </p:sp>
      <p:sp>
        <p:nvSpPr>
          <p:cNvPr id="26" name="Text 24"/>
          <p:cNvSpPr txBox="1"/>
          <p:nvPr/>
        </p:nvSpPr>
        <p:spPr>
          <a:xfrm>
            <a:off x="8183880" y="3721608"/>
            <a:ext cx="3319272" cy="228600"/>
          </a:xfrm>
          <a:prstGeom prst="rect">
            <a:avLst/>
          </a:prstGeom>
          <a:noFill/>
          <a:ln/>
        </p:spPr>
        <p:txBody>
          <a:bodyPr wrap="square" lIns="0" tIns="0" rIns="0" bIns="0" rtlCol="0" anchor="t"/>
          <a:lstStyle/>
          <a:p>
            <a:pPr marL="0" indent="0">
              <a:buNone/>
            </a:pPr>
            <a:r>
              <a:rPr lang="en-US" sz="1000" dirty="0">
                <a:solidFill>
                  <a:srgbClr val="111111"/>
                </a:solidFill>
                <a:latin typeface="IBM Plex Mono" pitchFamily="34" charset="0"/>
                <a:ea typeface="IBM Plex Mono" pitchFamily="34" charset="-122"/>
                <a:cs typeface="IBM Plex Mono" pitchFamily="34" charset="-120"/>
              </a:rPr>
              <a:t>automated validation checks passed</a:t>
            </a:r>
            <a:endParaRPr lang="en-US" sz="1000" dirty="0"/>
          </a:p>
        </p:txBody>
      </p:sp>
      <p:sp>
        <p:nvSpPr>
          <p:cNvPr id="27" name="Shape 25"/>
          <p:cNvSpPr/>
          <p:nvPr/>
        </p:nvSpPr>
        <p:spPr>
          <a:xfrm>
            <a:off x="8183880" y="4206240"/>
            <a:ext cx="3319272" cy="0"/>
          </a:xfrm>
          <a:prstGeom prst="line">
            <a:avLst/>
          </a:prstGeom>
          <a:noFill/>
          <a:ln w="9525">
            <a:solidFill>
              <a:srgbClr val="D9D5CC"/>
            </a:solidFill>
            <a:prstDash val="solid"/>
          </a:ln>
        </p:spPr>
      </p:sp>
      <p:sp>
        <p:nvSpPr>
          <p:cNvPr id="28" name="Text 26"/>
          <p:cNvSpPr txBox="1"/>
          <p:nvPr/>
        </p:nvSpPr>
        <p:spPr>
          <a:xfrm>
            <a:off x="8183880" y="4279392"/>
            <a:ext cx="3319272" cy="274320"/>
          </a:xfrm>
          <a:prstGeom prst="rect">
            <a:avLst/>
          </a:prstGeom>
          <a:noFill/>
          <a:ln/>
        </p:spPr>
        <p:txBody>
          <a:bodyPr wrap="square" lIns="0" tIns="0" rIns="0" bIns="0" rtlCol="0" anchor="t"/>
          <a:lstStyle/>
          <a:p>
            <a:pPr marL="0" indent="0">
              <a:buNone/>
            </a:pPr>
            <a:r>
              <a:rPr lang="en-US" sz="1400" b="1" dirty="0">
                <a:solidFill>
                  <a:srgbClr val="111111"/>
                </a:solidFill>
                <a:latin typeface="IBM Plex Mono" pitchFamily="34" charset="0"/>
                <a:ea typeface="IBM Plex Mono" pitchFamily="34" charset="-122"/>
                <a:cs typeface="IBM Plex Mono" pitchFamily="34" charset="-120"/>
              </a:rPr>
              <a:t>0.25 %</a:t>
            </a:r>
            <a:endParaRPr lang="en-US" sz="1400" dirty="0"/>
          </a:p>
        </p:txBody>
      </p:sp>
      <p:sp>
        <p:nvSpPr>
          <p:cNvPr id="29" name="Text 27"/>
          <p:cNvSpPr txBox="1"/>
          <p:nvPr/>
        </p:nvSpPr>
        <p:spPr>
          <a:xfrm>
            <a:off x="8183880" y="4553712"/>
            <a:ext cx="3319272" cy="2286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rms Barnes–Hut force error, θ = 0.5</a:t>
            </a:r>
            <a:endParaRPr lang="en-US" sz="950" dirty="0"/>
          </a:p>
        </p:txBody>
      </p:sp>
      <p:sp>
        <p:nvSpPr>
          <p:cNvPr id="30" name="Shape 28"/>
          <p:cNvSpPr/>
          <p:nvPr/>
        </p:nvSpPr>
        <p:spPr>
          <a:xfrm>
            <a:off x="8183880" y="4828032"/>
            <a:ext cx="3319272" cy="0"/>
          </a:xfrm>
          <a:prstGeom prst="line">
            <a:avLst/>
          </a:prstGeom>
          <a:noFill/>
          <a:ln w="9525">
            <a:solidFill>
              <a:srgbClr val="D9D5CC"/>
            </a:solidFill>
            <a:prstDash val="solid"/>
          </a:ln>
        </p:spPr>
      </p:sp>
      <p:sp>
        <p:nvSpPr>
          <p:cNvPr id="31" name="Text 29"/>
          <p:cNvSpPr txBox="1"/>
          <p:nvPr/>
        </p:nvSpPr>
        <p:spPr>
          <a:xfrm>
            <a:off x="8183880" y="4901184"/>
            <a:ext cx="3319272" cy="274320"/>
          </a:xfrm>
          <a:prstGeom prst="rect">
            <a:avLst/>
          </a:prstGeom>
          <a:noFill/>
          <a:ln/>
        </p:spPr>
        <p:txBody>
          <a:bodyPr wrap="square" lIns="0" tIns="0" rIns="0" bIns="0" rtlCol="0" anchor="t"/>
          <a:lstStyle/>
          <a:p>
            <a:pPr marL="0" indent="0">
              <a:buNone/>
            </a:pPr>
            <a:r>
              <a:rPr lang="en-US" sz="1400" b="1" dirty="0">
                <a:solidFill>
                  <a:srgbClr val="111111"/>
                </a:solidFill>
                <a:latin typeface="IBM Plex Mono" pitchFamily="34" charset="0"/>
                <a:ea typeface="IBM Plex Mono" pitchFamily="34" charset="-122"/>
                <a:cs typeface="IBM Plex Mono" pitchFamily="34" charset="-120"/>
              </a:rPr>
              <a:t>1.1 × 10⁻⁷</a:t>
            </a:r>
            <a:endParaRPr lang="en-US" sz="1400" dirty="0"/>
          </a:p>
        </p:txBody>
      </p:sp>
      <p:sp>
        <p:nvSpPr>
          <p:cNvPr id="32" name="Text 30"/>
          <p:cNvSpPr txBox="1"/>
          <p:nvPr/>
        </p:nvSpPr>
        <p:spPr>
          <a:xfrm>
            <a:off x="8183880" y="5175504"/>
            <a:ext cx="3319272" cy="2286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max energy drift, direct sum</a:t>
            </a:r>
            <a:endParaRPr lang="en-US" sz="950" dirty="0"/>
          </a:p>
        </p:txBody>
      </p:sp>
      <p:sp>
        <p:nvSpPr>
          <p:cNvPr id="33" name="Shape 31"/>
          <p:cNvSpPr/>
          <p:nvPr/>
        </p:nvSpPr>
        <p:spPr>
          <a:xfrm>
            <a:off x="8183880" y="5449824"/>
            <a:ext cx="3319272" cy="0"/>
          </a:xfrm>
          <a:prstGeom prst="line">
            <a:avLst/>
          </a:prstGeom>
          <a:noFill/>
          <a:ln w="9525">
            <a:solidFill>
              <a:srgbClr val="D9D5CC"/>
            </a:solidFill>
            <a:prstDash val="solid"/>
          </a:ln>
        </p:spPr>
      </p:sp>
      <p:sp>
        <p:nvSpPr>
          <p:cNvPr id="34" name="Text 32"/>
          <p:cNvSpPr txBox="1"/>
          <p:nvPr/>
        </p:nvSpPr>
        <p:spPr>
          <a:xfrm>
            <a:off x="8183880" y="5522976"/>
            <a:ext cx="3319272" cy="274320"/>
          </a:xfrm>
          <a:prstGeom prst="rect">
            <a:avLst/>
          </a:prstGeom>
          <a:noFill/>
          <a:ln/>
        </p:spPr>
        <p:txBody>
          <a:bodyPr wrap="square" lIns="0" tIns="0" rIns="0" bIns="0" rtlCol="0" anchor="t"/>
          <a:lstStyle/>
          <a:p>
            <a:pPr marL="0" indent="0">
              <a:buNone/>
            </a:pPr>
            <a:r>
              <a:rPr lang="en-US" sz="1400" b="1" dirty="0">
                <a:solidFill>
                  <a:srgbClr val="111111"/>
                </a:solidFill>
                <a:latin typeface="IBM Plex Mono" pitchFamily="34" charset="0"/>
                <a:ea typeface="IBM Plex Mono" pitchFamily="34" charset="-122"/>
                <a:cs typeface="IBM Plex Mono" pitchFamily="34" charset="-120"/>
              </a:rPr>
              <a:t>1 checksum</a:t>
            </a:r>
            <a:endParaRPr lang="en-US" sz="1400" dirty="0"/>
          </a:p>
        </p:txBody>
      </p:sp>
      <p:sp>
        <p:nvSpPr>
          <p:cNvPr id="35" name="Text 33"/>
          <p:cNvSpPr txBox="1"/>
          <p:nvPr/>
        </p:nvSpPr>
        <p:spPr>
          <a:xfrm>
            <a:off x="8183880" y="5797296"/>
            <a:ext cx="3319272" cy="2286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across 13 thread / rank / schedule configurations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06</a:t>
            </a:r>
            <a:r>
              <a:rPr lang="en-US" sz="1000" kern="0" spc="150" dirty="0">
                <a:solidFill>
                  <a:srgbClr val="6B6862"/>
                </a:solidFill>
                <a:latin typeface="IBM Plex Mono" pitchFamily="34" charset="0"/>
                <a:ea typeface="IBM Plex Mono" pitchFamily="34" charset="-122"/>
                <a:cs typeface="IBM Plex Mono" pitchFamily="34" charset="-120"/>
              </a:rPr>
              <a:t>  —  RESULTS · IMBALANCE</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Imbalance appears only once the core forms, and the controller follows it</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Cold collapse, N = 65,536, 8 threads. Work imbalance stays below 0.05 until t = 1.00, then rises to 0.64.</a:t>
            </a:r>
            <a:endParaRPr lang="en-US" sz="1500" dirty="0"/>
          </a:p>
        </p:txBody>
      </p:sp>
      <p:graphicFrame>
        <p:nvGraphicFramePr>
          <p:cNvPr id="5" name="Chart 0"/>
          <p:cNvGraphicFramePr/>
          <p:nvPr/>
        </p:nvGraphicFramePr>
        <p:xfrm>
          <a:off x="594360" y="2514600"/>
          <a:ext cx="80010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8915400" y="2514600"/>
            <a:ext cx="2587752"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ADAPTIVE RUN</a:t>
            </a:r>
            <a:endParaRPr lang="en-US" sz="900" dirty="0"/>
          </a:p>
        </p:txBody>
      </p:sp>
      <p:sp>
        <p:nvSpPr>
          <p:cNvPr id="7" name="Shape 4"/>
          <p:cNvSpPr/>
          <p:nvPr/>
        </p:nvSpPr>
        <p:spPr>
          <a:xfrm>
            <a:off x="8915400" y="2926080"/>
            <a:ext cx="2587752" cy="0"/>
          </a:xfrm>
          <a:prstGeom prst="line">
            <a:avLst/>
          </a:prstGeom>
          <a:noFill/>
          <a:ln w="9525">
            <a:solidFill>
              <a:srgbClr val="D9D5CC"/>
            </a:solidFill>
            <a:prstDash val="solid"/>
          </a:ln>
        </p:spPr>
      </p:sp>
      <p:sp>
        <p:nvSpPr>
          <p:cNvPr id="8" name="Text 5"/>
          <p:cNvSpPr txBox="1"/>
          <p:nvPr/>
        </p:nvSpPr>
        <p:spPr>
          <a:xfrm>
            <a:off x="8915400" y="3035808"/>
            <a:ext cx="2587752" cy="365760"/>
          </a:xfrm>
          <a:prstGeom prst="rect">
            <a:avLst/>
          </a:prstGeom>
          <a:noFill/>
          <a:ln/>
        </p:spPr>
        <p:txBody>
          <a:bodyPr wrap="square" lIns="0" tIns="0" rIns="0" bIns="0" rtlCol="0" anchor="t"/>
          <a:lstStyle/>
          <a:p>
            <a:pPr marL="0" indent="0">
              <a:buNone/>
            </a:pPr>
            <a:r>
              <a:rPr lang="en-US" sz="1800" b="1" dirty="0">
                <a:solidFill>
                  <a:srgbClr val="111111"/>
                </a:solidFill>
                <a:latin typeface="IBM Plex Mono" pitchFamily="34" charset="0"/>
                <a:ea typeface="IBM Plex Mono" pitchFamily="34" charset="-122"/>
                <a:cs typeface="IBM Plex Mono" pitchFamily="34" charset="-120"/>
              </a:rPr>
              <a:t>t = 0.41</a:t>
            </a:r>
            <a:endParaRPr lang="en-US" sz="1800" dirty="0"/>
          </a:p>
        </p:txBody>
      </p:sp>
      <p:sp>
        <p:nvSpPr>
          <p:cNvPr id="9" name="Text 6"/>
          <p:cNvSpPr txBox="1"/>
          <p:nvPr/>
        </p:nvSpPr>
        <p:spPr>
          <a:xfrm>
            <a:off x="8915400" y="3429000"/>
            <a:ext cx="2587752" cy="457200"/>
          </a:xfrm>
          <a:prstGeom prst="rect">
            <a:avLst/>
          </a:prstGeom>
          <a:noFill/>
          <a:ln/>
        </p:spPr>
        <p:txBody>
          <a:bodyPr wrap="square" lIns="0" tIns="0" rIns="0" bIns="0" rtlCol="0" anchor="t"/>
          <a:lstStyle/>
          <a:p>
            <a:pPr marL="0" indent="0">
              <a:buNone/>
            </a:pPr>
            <a:r>
              <a:rPr lang="en-US" sz="1200" dirty="0">
                <a:solidFill>
                  <a:srgbClr val="3A3936"/>
                </a:solidFill>
                <a:latin typeface="IBM Plex Sans" pitchFamily="34" charset="0"/>
                <a:ea typeface="IBM Plex Sans" pitchFamily="34" charset="-122"/>
                <a:cs typeface="IBM Plex Sans" pitchFamily="34" charset="-120"/>
              </a:rPr>
              <a:t>brief switch on a timing spike, reverted by the 0.05 threshold</a:t>
            </a:r>
            <a:endParaRPr lang="en-US" sz="1200" dirty="0"/>
          </a:p>
        </p:txBody>
      </p:sp>
      <p:sp>
        <p:nvSpPr>
          <p:cNvPr id="10" name="Shape 7"/>
          <p:cNvSpPr/>
          <p:nvPr/>
        </p:nvSpPr>
        <p:spPr>
          <a:xfrm>
            <a:off x="8915400" y="3950208"/>
            <a:ext cx="2587752" cy="0"/>
          </a:xfrm>
          <a:prstGeom prst="line">
            <a:avLst/>
          </a:prstGeom>
          <a:noFill/>
          <a:ln w="9525">
            <a:solidFill>
              <a:srgbClr val="D9D5CC"/>
            </a:solidFill>
            <a:prstDash val="solid"/>
          </a:ln>
        </p:spPr>
      </p:sp>
      <p:sp>
        <p:nvSpPr>
          <p:cNvPr id="11" name="Text 8"/>
          <p:cNvSpPr txBox="1"/>
          <p:nvPr/>
        </p:nvSpPr>
        <p:spPr>
          <a:xfrm>
            <a:off x="8915400" y="4059936"/>
            <a:ext cx="2587752" cy="365760"/>
          </a:xfrm>
          <a:prstGeom prst="rect">
            <a:avLst/>
          </a:prstGeom>
          <a:noFill/>
          <a:ln/>
        </p:spPr>
        <p:txBody>
          <a:bodyPr wrap="square" lIns="0" tIns="0" rIns="0" bIns="0" rtlCol="0" anchor="t"/>
          <a:lstStyle/>
          <a:p>
            <a:pPr marL="0" indent="0">
              <a:buNone/>
            </a:pPr>
            <a:r>
              <a:rPr lang="en-US" sz="1800" b="1" dirty="0">
                <a:solidFill>
                  <a:srgbClr val="D9472B"/>
                </a:solidFill>
                <a:latin typeface="IBM Plex Mono" pitchFamily="34" charset="0"/>
                <a:ea typeface="IBM Plex Mono" pitchFamily="34" charset="-122"/>
                <a:cs typeface="IBM Plex Mono" pitchFamily="34" charset="-120"/>
              </a:rPr>
              <a:t>t = 1.16</a:t>
            </a:r>
            <a:endParaRPr lang="en-US" sz="1800" dirty="0"/>
          </a:p>
        </p:txBody>
      </p:sp>
      <p:sp>
        <p:nvSpPr>
          <p:cNvPr id="12" name="Text 9"/>
          <p:cNvSpPr txBox="1"/>
          <p:nvPr/>
        </p:nvSpPr>
        <p:spPr>
          <a:xfrm>
            <a:off x="8915400" y="4453128"/>
            <a:ext cx="2587752" cy="457200"/>
          </a:xfrm>
          <a:prstGeom prst="rect">
            <a:avLst/>
          </a:prstGeom>
          <a:noFill/>
          <a:ln/>
        </p:spPr>
        <p:txBody>
          <a:bodyPr wrap="square" lIns="0" tIns="0" rIns="0" bIns="0" rtlCol="0" anchor="t"/>
          <a:lstStyle/>
          <a:p>
            <a:pPr marL="0" indent="0">
              <a:buNone/>
            </a:pPr>
            <a:r>
              <a:rPr lang="en-US" sz="1200" dirty="0">
                <a:solidFill>
                  <a:srgbClr val="3A3936"/>
                </a:solidFill>
                <a:latin typeface="IBM Plex Sans" pitchFamily="34" charset="0"/>
                <a:ea typeface="IBM Plex Sans" pitchFamily="34" charset="-122"/>
                <a:cs typeface="IBM Plex Sans" pitchFamily="34" charset="-120"/>
              </a:rPr>
              <a:t>sustained switch as the core forms</a:t>
            </a:r>
            <a:endParaRPr lang="en-US" sz="1200" dirty="0"/>
          </a:p>
        </p:txBody>
      </p:sp>
      <p:sp>
        <p:nvSpPr>
          <p:cNvPr id="13" name="Shape 10"/>
          <p:cNvSpPr/>
          <p:nvPr/>
        </p:nvSpPr>
        <p:spPr>
          <a:xfrm>
            <a:off x="8915400" y="4974336"/>
            <a:ext cx="2587752" cy="0"/>
          </a:xfrm>
          <a:prstGeom prst="line">
            <a:avLst/>
          </a:prstGeom>
          <a:noFill/>
          <a:ln w="9525">
            <a:solidFill>
              <a:srgbClr val="D9D5CC"/>
            </a:solidFill>
            <a:prstDash val="solid"/>
          </a:ln>
        </p:spPr>
      </p:sp>
      <p:sp>
        <p:nvSpPr>
          <p:cNvPr id="14" name="Text 11"/>
          <p:cNvSpPr txBox="1"/>
          <p:nvPr/>
        </p:nvSpPr>
        <p:spPr>
          <a:xfrm>
            <a:off x="8915400" y="5084064"/>
            <a:ext cx="2587752" cy="365760"/>
          </a:xfrm>
          <a:prstGeom prst="rect">
            <a:avLst/>
          </a:prstGeom>
          <a:noFill/>
          <a:ln/>
        </p:spPr>
        <p:txBody>
          <a:bodyPr wrap="square" lIns="0" tIns="0" rIns="0" bIns="0" rtlCol="0" anchor="t"/>
          <a:lstStyle/>
          <a:p>
            <a:pPr marL="0" indent="0">
              <a:buNone/>
            </a:pPr>
            <a:r>
              <a:rPr lang="en-US" sz="1800" b="1" dirty="0">
                <a:solidFill>
                  <a:srgbClr val="111111"/>
                </a:solidFill>
                <a:latin typeface="IBM Plex Mono" pitchFamily="34" charset="0"/>
                <a:ea typeface="IBM Plex Mono" pitchFamily="34" charset="-122"/>
                <a:cs typeface="IBM Plex Mono" pitchFamily="34" charset="-120"/>
              </a:rPr>
              <a:t>λ 0.57 → 0.04</a:t>
            </a:r>
            <a:endParaRPr lang="en-US" sz="1800" dirty="0"/>
          </a:p>
        </p:txBody>
      </p:sp>
      <p:sp>
        <p:nvSpPr>
          <p:cNvPr id="15" name="Text 12"/>
          <p:cNvSpPr txBox="1"/>
          <p:nvPr/>
        </p:nvSpPr>
        <p:spPr>
          <a:xfrm>
            <a:off x="8915400" y="5477256"/>
            <a:ext cx="2587752" cy="457200"/>
          </a:xfrm>
          <a:prstGeom prst="rect">
            <a:avLst/>
          </a:prstGeom>
          <a:noFill/>
          <a:ln/>
        </p:spPr>
        <p:txBody>
          <a:bodyPr wrap="square" lIns="0" tIns="0" rIns="0" bIns="0" rtlCol="0" anchor="t"/>
          <a:lstStyle/>
          <a:p>
            <a:pPr marL="0" indent="0">
              <a:buNone/>
            </a:pPr>
            <a:r>
              <a:rPr lang="en-US" sz="1200" dirty="0">
                <a:solidFill>
                  <a:srgbClr val="3A3936"/>
                </a:solidFill>
                <a:latin typeface="IBM Plex Sans" pitchFamily="34" charset="0"/>
                <a:ea typeface="IBM Plex Sans" pitchFamily="34" charset="-122"/>
                <a:cs typeface="IBM Plex Sans" pitchFamily="34" charset="-120"/>
              </a:rPr>
              <a:t>measured λ at the last step, static vs adaptive</a:t>
            </a:r>
            <a:endParaRPr lang="en-US" sz="1200" dirty="0"/>
          </a:p>
        </p:txBody>
      </p:sp>
      <p:sp>
        <p:nvSpPr>
          <p:cNvPr id="16" name="Shape 13"/>
          <p:cNvSpPr/>
          <p:nvPr/>
        </p:nvSpPr>
        <p:spPr>
          <a:xfrm>
            <a:off x="8915400" y="5998464"/>
            <a:ext cx="2587752" cy="0"/>
          </a:xfrm>
          <a:prstGeom prst="line">
            <a:avLst/>
          </a:prstGeom>
          <a:noFill/>
          <a:ln w="9525">
            <a:solidFill>
              <a:srgbClr val="D9D5C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07</a:t>
            </a:r>
            <a:r>
              <a:rPr lang="en-US" sz="1000" kern="0" spc="150" dirty="0">
                <a:solidFill>
                  <a:srgbClr val="6B6862"/>
                </a:solidFill>
                <a:latin typeface="IBM Plex Mono" pitchFamily="34" charset="0"/>
                <a:ea typeface="IBM Plex Mono" pitchFamily="34" charset="-122"/>
                <a:cs typeface="IBM Plex Mono" pitchFamily="34" charset="-120"/>
              </a:rPr>
              <a:t>  —  RESULTS · SCHEDULES</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Adaptive beats static in all nine clustered cases; guided gains more</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Time saved vs static at 8 threads. Speed-up at 8 threads (N = 65,536): 5.6–6.4×.</a:t>
            </a:r>
            <a:endParaRPr lang="en-US" sz="1500" dirty="0"/>
          </a:p>
        </p:txBody>
      </p:sp>
      <p:graphicFrame>
        <p:nvGraphicFramePr>
          <p:cNvPr id="5" name="Chart 0"/>
          <p:cNvGraphicFramePr/>
          <p:nvPr/>
        </p:nvGraphicFramePr>
        <p:xfrm>
          <a:off x="594360" y="2514600"/>
          <a:ext cx="74523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8503920" y="2514600"/>
            <a:ext cx="2999232" cy="201168"/>
          </a:xfrm>
          <a:prstGeom prst="rect">
            <a:avLst/>
          </a:prstGeom>
          <a:noFill/>
          <a:ln/>
        </p:spPr>
        <p:txBody>
          <a:bodyPr wrap="square" lIns="0" tIns="0" rIns="0" bIns="0" rtlCol="0" anchor="t"/>
          <a:lstStyle/>
          <a:p>
            <a:pPr marL="0" indent="0">
              <a:buNone/>
            </a:pPr>
            <a:r>
              <a:rPr lang="en-US" sz="900" kern="0" spc="100" dirty="0">
                <a:solidFill>
                  <a:srgbClr val="6B6862"/>
                </a:solidFill>
                <a:latin typeface="IBM Plex Mono" pitchFamily="34" charset="0"/>
                <a:ea typeface="IBM Plex Mono" pitchFamily="34" charset="-122"/>
                <a:cs typeface="IBM Plex Mono" pitchFamily="34" charset="-120"/>
              </a:rPr>
              <a:t>CLUSTERED CASES FASTER THAN STATIC</a:t>
            </a:r>
            <a:endParaRPr lang="en-US" sz="900" dirty="0"/>
          </a:p>
        </p:txBody>
      </p:sp>
      <p:sp>
        <p:nvSpPr>
          <p:cNvPr id="7" name="Text 4"/>
          <p:cNvSpPr txBox="1"/>
          <p:nvPr/>
        </p:nvSpPr>
        <p:spPr>
          <a:xfrm>
            <a:off x="8503920" y="2770632"/>
            <a:ext cx="2999232" cy="914400"/>
          </a:xfrm>
          <a:prstGeom prst="rect">
            <a:avLst/>
          </a:prstGeom>
          <a:noFill/>
          <a:ln/>
        </p:spPr>
        <p:txBody>
          <a:bodyPr wrap="square" lIns="0" tIns="0" rIns="0" bIns="0" rtlCol="0" anchor="t"/>
          <a:lstStyle/>
          <a:p>
            <a:pPr marL="0" indent="0">
              <a:buNone/>
            </a:pPr>
            <a:r>
              <a:rPr lang="en-US" sz="5400" b="1" dirty="0">
                <a:solidFill>
                  <a:srgbClr val="D9472B"/>
                </a:solidFill>
                <a:latin typeface="IBM Plex Mono" pitchFamily="34" charset="0"/>
                <a:ea typeface="IBM Plex Mono" pitchFamily="34" charset="-122"/>
                <a:cs typeface="IBM Plex Mono" pitchFamily="34" charset="-120"/>
              </a:rPr>
              <a:t>9/9</a:t>
            </a:r>
            <a:endParaRPr lang="en-US" sz="5400" dirty="0"/>
          </a:p>
        </p:txBody>
      </p:sp>
      <p:sp>
        <p:nvSpPr>
          <p:cNvPr id="8" name="Text 5"/>
          <p:cNvSpPr txBox="1"/>
          <p:nvPr/>
        </p:nvSpPr>
        <p:spPr>
          <a:xfrm>
            <a:off x="8503920" y="3703320"/>
            <a:ext cx="2999232" cy="228600"/>
          </a:xfrm>
          <a:prstGeom prst="rect">
            <a:avLst/>
          </a:prstGeom>
          <a:noFill/>
          <a:ln/>
        </p:spPr>
        <p:txBody>
          <a:bodyPr wrap="square" lIns="0" tIns="0" rIns="0" bIns="0" rtlCol="0" anchor="t"/>
          <a:lstStyle/>
          <a:p>
            <a:pPr marL="0" indent="0">
              <a:buNone/>
            </a:pPr>
            <a:r>
              <a:rPr lang="en-US" sz="1000" dirty="0">
                <a:solidFill>
                  <a:srgbClr val="111111"/>
                </a:solidFill>
                <a:latin typeface="IBM Plex Mono" pitchFamily="34" charset="0"/>
                <a:ea typeface="IBM Plex Mono" pitchFamily="34" charset="-122"/>
                <a:cs typeface="IBM Plex Mono" pitchFamily="34" charset="-120"/>
              </a:rPr>
              <a:t>adaptive saves 1.5–16.6 % of run time</a:t>
            </a:r>
            <a:endParaRPr lang="en-US" sz="1000" dirty="0"/>
          </a:p>
        </p:txBody>
      </p:sp>
      <p:sp>
        <p:nvSpPr>
          <p:cNvPr id="9" name="Shape 6"/>
          <p:cNvSpPr/>
          <p:nvPr/>
        </p:nvSpPr>
        <p:spPr>
          <a:xfrm>
            <a:off x="8503920" y="4160520"/>
            <a:ext cx="2999232" cy="0"/>
          </a:xfrm>
          <a:prstGeom prst="line">
            <a:avLst/>
          </a:prstGeom>
          <a:noFill/>
          <a:ln w="9525">
            <a:solidFill>
              <a:srgbClr val="D9D5CC"/>
            </a:solidFill>
            <a:prstDash val="solid"/>
          </a:ln>
        </p:spPr>
      </p:sp>
      <p:sp>
        <p:nvSpPr>
          <p:cNvPr id="10" name="Text 7"/>
          <p:cNvSpPr txBox="1"/>
          <p:nvPr/>
        </p:nvSpPr>
        <p:spPr>
          <a:xfrm>
            <a:off x="8503920" y="4233672"/>
            <a:ext cx="2999232" cy="201168"/>
          </a:xfrm>
          <a:prstGeom prst="rect">
            <a:avLst/>
          </a:prstGeom>
          <a:noFill/>
          <a:ln/>
        </p:spPr>
        <p:txBody>
          <a:bodyPr wrap="square" lIns="0" tIns="0" rIns="0" bIns="0" rtlCol="0" anchor="t"/>
          <a:lstStyle/>
          <a:p>
            <a:pPr marL="0" indent="0">
              <a:buNone/>
            </a:pPr>
            <a:r>
              <a:rPr lang="en-US" sz="850" kern="0" spc="100" dirty="0">
                <a:solidFill>
                  <a:srgbClr val="D9472B"/>
                </a:solidFill>
                <a:latin typeface="IBM Plex Mono" pitchFamily="34" charset="0"/>
                <a:ea typeface="IBM Plex Mono" pitchFamily="34" charset="-122"/>
                <a:cs typeface="IBM Plex Mono" pitchFamily="34" charset="-120"/>
              </a:rPr>
              <a:t>UNIFORM INPUT</a:t>
            </a:r>
            <a:endParaRPr lang="en-US" sz="850" dirty="0"/>
          </a:p>
        </p:txBody>
      </p:sp>
      <p:sp>
        <p:nvSpPr>
          <p:cNvPr id="11" name="Text 8"/>
          <p:cNvSpPr txBox="1"/>
          <p:nvPr/>
        </p:nvSpPr>
        <p:spPr>
          <a:xfrm>
            <a:off x="8503920" y="4453128"/>
            <a:ext cx="2999232" cy="274320"/>
          </a:xfrm>
          <a:prstGeom prst="rect">
            <a:avLst/>
          </a:prstGeom>
          <a:noFill/>
          <a:ln/>
        </p:spPr>
        <p:txBody>
          <a:bodyPr wrap="square" lIns="0" tIns="0" rIns="0" bIns="0" rtlCol="0" anchor="t"/>
          <a:lstStyle/>
          <a:p>
            <a:pPr marL="0" indent="0">
              <a:buNone/>
            </a:pPr>
            <a:r>
              <a:rPr lang="en-US" sz="1200" dirty="0">
                <a:solidFill>
                  <a:srgbClr val="111111"/>
                </a:solidFill>
                <a:latin typeface="IBM Plex Sans" pitchFamily="34" charset="0"/>
                <a:ea typeface="IBM Plex Sans" pitchFamily="34" charset="-122"/>
                <a:cs typeface="IBM Plex Sans" pitchFamily="34" charset="-120"/>
              </a:rPr>
              <a:t>within 2.3 % of static, all sizes</a:t>
            </a:r>
            <a:endParaRPr lang="en-US" sz="1200" dirty="0"/>
          </a:p>
        </p:txBody>
      </p:sp>
      <p:sp>
        <p:nvSpPr>
          <p:cNvPr id="12" name="Shape 9"/>
          <p:cNvSpPr/>
          <p:nvPr/>
        </p:nvSpPr>
        <p:spPr>
          <a:xfrm>
            <a:off x="8503920" y="4846320"/>
            <a:ext cx="2999232" cy="0"/>
          </a:xfrm>
          <a:prstGeom prst="line">
            <a:avLst/>
          </a:prstGeom>
          <a:noFill/>
          <a:ln w="9525">
            <a:solidFill>
              <a:srgbClr val="D9D5CC"/>
            </a:solidFill>
            <a:prstDash val="solid"/>
          </a:ln>
        </p:spPr>
      </p:sp>
      <p:sp>
        <p:nvSpPr>
          <p:cNvPr id="13" name="Text 10"/>
          <p:cNvSpPr txBox="1"/>
          <p:nvPr/>
        </p:nvSpPr>
        <p:spPr>
          <a:xfrm>
            <a:off x="8503920" y="4919472"/>
            <a:ext cx="2999232" cy="201168"/>
          </a:xfrm>
          <a:prstGeom prst="rect">
            <a:avLst/>
          </a:prstGeom>
          <a:noFill/>
          <a:ln/>
        </p:spPr>
        <p:txBody>
          <a:bodyPr wrap="square" lIns="0" tIns="0" rIns="0" bIns="0" rtlCol="0" anchor="t"/>
          <a:lstStyle/>
          <a:p>
            <a:pPr marL="0" indent="0">
              <a:buNone/>
            </a:pPr>
            <a:r>
              <a:rPr lang="en-US" sz="850" kern="0" spc="100" dirty="0">
                <a:solidFill>
                  <a:srgbClr val="D9472B"/>
                </a:solidFill>
                <a:latin typeface="IBM Plex Mono" pitchFamily="34" charset="0"/>
                <a:ea typeface="IBM Plex Mono" pitchFamily="34" charset="-122"/>
                <a:cs typeface="IBM Plex Mono" pitchFamily="34" charset="-120"/>
              </a:rPr>
              <a:t>SMALL BALANCED JOB</a:t>
            </a:r>
            <a:endParaRPr lang="en-US" sz="850" dirty="0"/>
          </a:p>
        </p:txBody>
      </p:sp>
      <p:sp>
        <p:nvSpPr>
          <p:cNvPr id="14" name="Text 11"/>
          <p:cNvSpPr txBox="1"/>
          <p:nvPr/>
        </p:nvSpPr>
        <p:spPr>
          <a:xfrm>
            <a:off x="8503920" y="5138928"/>
            <a:ext cx="2999232" cy="274320"/>
          </a:xfrm>
          <a:prstGeom prst="rect">
            <a:avLst/>
          </a:prstGeom>
          <a:noFill/>
          <a:ln/>
        </p:spPr>
        <p:txBody>
          <a:bodyPr wrap="square" lIns="0" tIns="0" rIns="0" bIns="0" rtlCol="0" anchor="t"/>
          <a:lstStyle/>
          <a:p>
            <a:pPr marL="0" indent="0">
              <a:buNone/>
            </a:pPr>
            <a:r>
              <a:rPr lang="en-US" sz="1200" dirty="0">
                <a:solidFill>
                  <a:srgbClr val="111111"/>
                </a:solidFill>
                <a:latin typeface="IBM Plex Sans" pitchFamily="34" charset="0"/>
                <a:ea typeface="IBM Plex Sans" pitchFamily="34" charset="-122"/>
                <a:cs typeface="IBM Plex Sans" pitchFamily="34" charset="-120"/>
              </a:rPr>
              <a:t>dynamic +46 % time; adaptive stays static</a:t>
            </a:r>
            <a:endParaRPr lang="en-US" sz="1200" dirty="0"/>
          </a:p>
        </p:txBody>
      </p:sp>
      <p:sp>
        <p:nvSpPr>
          <p:cNvPr id="15" name="Shape 12"/>
          <p:cNvSpPr/>
          <p:nvPr/>
        </p:nvSpPr>
        <p:spPr>
          <a:xfrm>
            <a:off x="8503920" y="5532120"/>
            <a:ext cx="2999232" cy="0"/>
          </a:xfrm>
          <a:prstGeom prst="line">
            <a:avLst/>
          </a:prstGeom>
          <a:noFill/>
          <a:ln w="9525">
            <a:solidFill>
              <a:srgbClr val="D9D5CC"/>
            </a:solidFill>
            <a:prstDash val="solid"/>
          </a:ln>
        </p:spPr>
      </p:sp>
      <p:sp>
        <p:nvSpPr>
          <p:cNvPr id="16" name="Text 13"/>
          <p:cNvSpPr txBox="1"/>
          <p:nvPr/>
        </p:nvSpPr>
        <p:spPr>
          <a:xfrm>
            <a:off x="8503920" y="5605272"/>
            <a:ext cx="2999232" cy="201168"/>
          </a:xfrm>
          <a:prstGeom prst="rect">
            <a:avLst/>
          </a:prstGeom>
          <a:noFill/>
          <a:ln/>
        </p:spPr>
        <p:txBody>
          <a:bodyPr wrap="square" lIns="0" tIns="0" rIns="0" bIns="0" rtlCol="0" anchor="t"/>
          <a:lstStyle/>
          <a:p>
            <a:pPr marL="0" indent="0">
              <a:buNone/>
            </a:pPr>
            <a:r>
              <a:rPr lang="en-US" sz="850" kern="0" spc="100" dirty="0">
                <a:solidFill>
                  <a:srgbClr val="D9472B"/>
                </a:solidFill>
                <a:latin typeface="IBM Plex Mono" pitchFamily="34" charset="0"/>
                <a:ea typeface="IBM Plex Mono" pitchFamily="34" charset="-122"/>
                <a:cs typeface="IBM Plex Mono" pitchFamily="34" charset="-120"/>
              </a:rPr>
              <a:t>BEST FIXED SCHEDULE</a:t>
            </a:r>
            <a:endParaRPr lang="en-US" sz="850" dirty="0"/>
          </a:p>
        </p:txBody>
      </p:sp>
      <p:sp>
        <p:nvSpPr>
          <p:cNvPr id="17" name="Text 14"/>
          <p:cNvSpPr txBox="1"/>
          <p:nvPr/>
        </p:nvSpPr>
        <p:spPr>
          <a:xfrm>
            <a:off x="8503920" y="5824728"/>
            <a:ext cx="2999232" cy="274320"/>
          </a:xfrm>
          <a:prstGeom prst="rect">
            <a:avLst/>
          </a:prstGeom>
          <a:noFill/>
          <a:ln/>
        </p:spPr>
        <p:txBody>
          <a:bodyPr wrap="square" lIns="0" tIns="0" rIns="0" bIns="0" rtlCol="0" anchor="t"/>
          <a:lstStyle/>
          <a:p>
            <a:pPr marL="0" indent="0">
              <a:buNone/>
            </a:pPr>
            <a:r>
              <a:rPr lang="en-US" sz="1200" dirty="0">
                <a:solidFill>
                  <a:srgbClr val="111111"/>
                </a:solidFill>
                <a:latin typeface="IBM Plex Sans" pitchFamily="34" charset="0"/>
                <a:ea typeface="IBM Plex Sans" pitchFamily="34" charset="-122"/>
                <a:cs typeface="IBM Plex Sans" pitchFamily="34" charset="-120"/>
              </a:rPr>
              <a:t>guided in 9 of 12 cases, adaptive in 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85800" y="457200"/>
            <a:ext cx="7315200" cy="274320"/>
          </a:xfrm>
          <a:prstGeom prst="rect">
            <a:avLst/>
          </a:prstGeom>
          <a:noFill/>
          <a:ln/>
        </p:spPr>
        <p:txBody>
          <a:bodyPr wrap="square" lIns="0" tIns="0" rIns="0" bIns="0" rtlCol="0" anchor="t"/>
          <a:lstStyle/>
          <a:p>
            <a:pPr marL="0" indent="0" algn="l">
              <a:buNone/>
            </a:pPr>
            <a:r>
              <a:rPr lang="en-US" sz="1000" kern="0" spc="150" dirty="0">
                <a:solidFill>
                  <a:srgbClr val="D9472B"/>
                </a:solidFill>
                <a:latin typeface="IBM Plex Mono" pitchFamily="34" charset="0"/>
                <a:ea typeface="IBM Plex Mono" pitchFamily="34" charset="-122"/>
                <a:cs typeface="IBM Plex Mono" pitchFamily="34" charset="-120"/>
              </a:rPr>
              <a:t>08</a:t>
            </a:r>
            <a:r>
              <a:rPr lang="en-US" sz="1000" kern="0" spc="150" dirty="0">
                <a:solidFill>
                  <a:srgbClr val="6B6862"/>
                </a:solidFill>
                <a:latin typeface="IBM Plex Mono" pitchFamily="34" charset="0"/>
                <a:ea typeface="IBM Plex Mono" pitchFamily="34" charset="-122"/>
                <a:cs typeface="IBM Plex Mono" pitchFamily="34" charset="-120"/>
              </a:rPr>
              <a:t>  —  GPU · LIMITATIONS · NEXT STEPS</a:t>
            </a:r>
            <a:endParaRPr lang="en-US" sz="1000" dirty="0"/>
          </a:p>
        </p:txBody>
      </p:sp>
      <p:sp>
        <p:nvSpPr>
          <p:cNvPr id="3" name="Text 0"/>
          <p:cNvSpPr>
            <a:spLocks noGrp="1"/>
          </p:cNvSpPr>
          <p:nvPr>
            <p:ph type="title" idx="101" hasCustomPrompt="1"/>
          </p:nvPr>
        </p:nvSpPr>
        <p:spPr>
          <a:xfrm>
            <a:off x="685800" y="786384"/>
            <a:ext cx="10424160" cy="1005840"/>
          </a:xfrm>
          <a:prstGeom prst="rect">
            <a:avLst/>
          </a:prstGeom>
          <a:noFill/>
          <a:ln/>
        </p:spPr>
        <p:txBody>
          <a:bodyPr wrap="square" lIns="0" tIns="0" rIns="0" bIns="0" rtlCol="0" anchor="t"/>
          <a:lstStyle/>
          <a:p>
            <a:pPr marL="0" indent="0" algn="l">
              <a:lnSpc>
                <a:spcPct val="95000"/>
              </a:lnSpc>
              <a:buNone/>
            </a:pPr>
            <a:r>
              <a:rPr lang="en-US" sz="3000" b="1" dirty="0">
                <a:solidFill>
                  <a:srgbClr val="111111"/>
                </a:solidFill>
                <a:latin typeface="IBM Plex Sans" pitchFamily="34" charset="0"/>
                <a:ea typeface="IBM Plex Sans" pitchFamily="34" charset="-122"/>
                <a:cs typeface="IBM Plex Sans" pitchFamily="34" charset="-120"/>
              </a:rPr>
              <a:t>The GPU removes the O(N²) cost; imbalance between ranks remains open</a:t>
            </a:r>
            <a:endParaRPr lang="en-US" sz="3000" dirty="0"/>
          </a:p>
        </p:txBody>
      </p:sp>
      <p:sp>
        <p:nvSpPr>
          <p:cNvPr id="4" name="Text 0"/>
          <p:cNvSpPr>
            <a:spLocks noGrp="1"/>
          </p:cNvSpPr>
          <p:nvPr>
            <p:ph type="body" idx="102" hasCustomPrompt="1"/>
          </p:nvPr>
        </p:nvSpPr>
        <p:spPr>
          <a:xfrm>
            <a:off x="685800" y="1847088"/>
            <a:ext cx="10058400" cy="457200"/>
          </a:xfrm>
          <a:prstGeom prst="rect">
            <a:avLst/>
          </a:prstGeom>
          <a:noFill/>
          <a:ln/>
        </p:spPr>
        <p:txBody>
          <a:bodyPr wrap="square" lIns="0" tIns="0" rIns="0" bIns="0" rtlCol="0" anchor="t"/>
          <a:lstStyle/>
          <a:p>
            <a:pPr marL="0" indent="0" algn="l">
              <a:buNone/>
            </a:pPr>
            <a:r>
              <a:rPr lang="en-US" sz="1500" dirty="0">
                <a:solidFill>
                  <a:srgbClr val="6B6862"/>
                </a:solidFill>
                <a:latin typeface="IBM Plex Sans" pitchFamily="34" charset="0"/>
                <a:ea typeface="IBM Plex Sans" pitchFamily="34" charset="-122"/>
                <a:cs typeface="IBM Plex Sans" pitchFamily="34" charset="-120"/>
              </a:rPr>
              <a:t>Tiled CUDA direct sum vs 8 CPU threads, and what the measurements say we should do next.</a:t>
            </a:r>
            <a:endParaRPr lang="en-US" sz="1500" dirty="0"/>
          </a:p>
        </p:txBody>
      </p:sp>
      <p:graphicFrame>
        <p:nvGraphicFramePr>
          <p:cNvPr id="5" name="Chart 0"/>
          <p:cNvGraphicFramePr/>
          <p:nvPr/>
        </p:nvGraphicFramePr>
        <p:xfrm>
          <a:off x="594360" y="3383280"/>
          <a:ext cx="507492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85800" y="2468880"/>
            <a:ext cx="2103120" cy="777240"/>
          </a:xfrm>
          <a:prstGeom prst="rect">
            <a:avLst/>
          </a:prstGeom>
          <a:noFill/>
          <a:ln/>
        </p:spPr>
        <p:txBody>
          <a:bodyPr wrap="square" lIns="0" tIns="0" rIns="0" bIns="0" rtlCol="0" anchor="t"/>
          <a:lstStyle/>
          <a:p>
            <a:pPr marL="0" indent="0">
              <a:buNone/>
            </a:pPr>
            <a:r>
              <a:rPr lang="en-US" sz="4800" b="1" dirty="0">
                <a:solidFill>
                  <a:srgbClr val="D9472B"/>
                </a:solidFill>
                <a:latin typeface="IBM Plex Mono" pitchFamily="34" charset="0"/>
                <a:ea typeface="IBM Plex Mono" pitchFamily="34" charset="-122"/>
                <a:cs typeface="IBM Plex Mono" pitchFamily="34" charset="-120"/>
              </a:rPr>
              <a:t>88×</a:t>
            </a:r>
            <a:endParaRPr lang="en-US" sz="4800" dirty="0"/>
          </a:p>
        </p:txBody>
      </p:sp>
      <p:sp>
        <p:nvSpPr>
          <p:cNvPr id="7" name="Text 4"/>
          <p:cNvSpPr txBox="1"/>
          <p:nvPr/>
        </p:nvSpPr>
        <p:spPr>
          <a:xfrm>
            <a:off x="2606040" y="2587752"/>
            <a:ext cx="3108960" cy="685800"/>
          </a:xfrm>
          <a:prstGeom prst="rect">
            <a:avLst/>
          </a:prstGeom>
          <a:noFill/>
          <a:ln/>
        </p:spPr>
        <p:txBody>
          <a:bodyPr wrap="square" lIns="0" tIns="0" rIns="0" bIns="0" rtlCol="0" anchor="t"/>
          <a:lstStyle/>
          <a:p>
            <a:pPr marL="0" indent="0">
              <a:buNone/>
            </a:pPr>
            <a:r>
              <a:rPr lang="en-US" sz="950" dirty="0">
                <a:solidFill>
                  <a:srgbClr val="6B6862"/>
                </a:solidFill>
                <a:latin typeface="IBM Plex Mono" pitchFamily="34" charset="0"/>
                <a:ea typeface="IBM Plex Mono" pitchFamily="34" charset="-122"/>
                <a:cs typeface="IBM Plex Mono" pitchFamily="34" charset="-120"/>
              </a:rPr>
              <a:t>fp32 kernel vs 8 CPU threads, N = 65,536</a:t>
            </a:r>
            <a:endParaRPr lang="en-US" sz="950" dirty="0"/>
          </a:p>
          <a:p>
            <a:pPr marL="0" indent="0">
              <a:buNone/>
            </a:pPr>
            <a:r>
              <a:rPr lang="en-US" sz="950" dirty="0">
                <a:solidFill>
                  <a:srgbClr val="6B6862"/>
                </a:solidFill>
                <a:latin typeface="IBM Plex Mono" pitchFamily="34" charset="0"/>
                <a:ea typeface="IBM Plex Mono" pitchFamily="34" charset="-122"/>
                <a:cs typeface="IBM Plex Mono" pitchFamily="34" charset="-120"/>
              </a:rPr>
              <a:t>24.0 vs 2117 ms per step</a:t>
            </a:r>
            <a:endParaRPr lang="en-US" sz="950" dirty="0"/>
          </a:p>
          <a:p>
            <a:pPr marL="0" indent="0">
              <a:buNone/>
            </a:pPr>
            <a:r>
              <a:rPr lang="en-US" sz="950" dirty="0">
                <a:solidFill>
                  <a:srgbClr val="6B6862"/>
                </a:solidFill>
                <a:latin typeface="IBM Plex Mono" pitchFamily="34" charset="0"/>
                <a:ea typeface="IBM Plex Mono" pitchFamily="34" charset="-122"/>
                <a:cs typeface="IBM Plex Mono" pitchFamily="34" charset="-120"/>
              </a:rPr>
              <a:t>rms force error 4.6 × 10⁻⁶</a:t>
            </a:r>
            <a:endParaRPr lang="en-US" sz="950" dirty="0"/>
          </a:p>
        </p:txBody>
      </p:sp>
      <p:sp>
        <p:nvSpPr>
          <p:cNvPr id="8" name="Text 5"/>
          <p:cNvSpPr txBox="1"/>
          <p:nvPr/>
        </p:nvSpPr>
        <p:spPr>
          <a:xfrm>
            <a:off x="6309360" y="2514600"/>
            <a:ext cx="5193792"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LIMITATIONS</a:t>
            </a:r>
            <a:endParaRPr lang="en-US" sz="900" dirty="0"/>
          </a:p>
        </p:txBody>
      </p:sp>
      <p:sp>
        <p:nvSpPr>
          <p:cNvPr id="9" name="Shape 6"/>
          <p:cNvSpPr/>
          <p:nvPr/>
        </p:nvSpPr>
        <p:spPr>
          <a:xfrm>
            <a:off x="6309360" y="2788920"/>
            <a:ext cx="5193792" cy="0"/>
          </a:xfrm>
          <a:prstGeom prst="line">
            <a:avLst/>
          </a:prstGeom>
          <a:noFill/>
          <a:ln w="9525">
            <a:solidFill>
              <a:srgbClr val="D9D5CC"/>
            </a:solidFill>
            <a:prstDash val="solid"/>
          </a:ln>
        </p:spPr>
      </p:sp>
      <p:sp>
        <p:nvSpPr>
          <p:cNvPr id="10" name="Text 7"/>
          <p:cNvSpPr txBox="1"/>
          <p:nvPr/>
        </p:nvSpPr>
        <p:spPr>
          <a:xfrm>
            <a:off x="6309360" y="2898648"/>
            <a:ext cx="5193792" cy="3200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Guided matched or beat adaptive in 9 of 12 cases</a:t>
            </a:r>
            <a:endParaRPr lang="en-US" sz="1300" dirty="0"/>
          </a:p>
        </p:txBody>
      </p:sp>
      <p:sp>
        <p:nvSpPr>
          <p:cNvPr id="11" name="Shape 8"/>
          <p:cNvSpPr/>
          <p:nvPr/>
        </p:nvSpPr>
        <p:spPr>
          <a:xfrm>
            <a:off x="6309360" y="3291840"/>
            <a:ext cx="5193792" cy="0"/>
          </a:xfrm>
          <a:prstGeom prst="line">
            <a:avLst/>
          </a:prstGeom>
          <a:noFill/>
          <a:ln w="9525">
            <a:solidFill>
              <a:srgbClr val="D9D5CC"/>
            </a:solidFill>
            <a:prstDash val="solid"/>
          </a:ln>
        </p:spPr>
      </p:sp>
      <p:sp>
        <p:nvSpPr>
          <p:cNvPr id="12" name="Text 9"/>
          <p:cNvSpPr txBox="1"/>
          <p:nvPr/>
        </p:nvSpPr>
        <p:spPr>
          <a:xfrm>
            <a:off x="6309360" y="3401568"/>
            <a:ext cx="5193792" cy="3200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A timing spike can trigger a false switch (uniform, 1 × 8: +17 % time)</a:t>
            </a:r>
            <a:endParaRPr lang="en-US" sz="1300" dirty="0"/>
          </a:p>
        </p:txBody>
      </p:sp>
      <p:sp>
        <p:nvSpPr>
          <p:cNvPr id="13" name="Shape 10"/>
          <p:cNvSpPr/>
          <p:nvPr/>
        </p:nvSpPr>
        <p:spPr>
          <a:xfrm>
            <a:off x="6309360" y="3794760"/>
            <a:ext cx="5193792" cy="0"/>
          </a:xfrm>
          <a:prstGeom prst="line">
            <a:avLst/>
          </a:prstGeom>
          <a:noFill/>
          <a:ln w="9525">
            <a:solidFill>
              <a:srgbClr val="D9D5CC"/>
            </a:solidFill>
            <a:prstDash val="solid"/>
          </a:ln>
        </p:spPr>
      </p:sp>
      <p:sp>
        <p:nvSpPr>
          <p:cNvPr id="14" name="Text 11"/>
          <p:cNvSpPr txBox="1"/>
          <p:nvPr/>
        </p:nvSpPr>
        <p:spPr>
          <a:xfrm>
            <a:off x="6309360" y="3904488"/>
            <a:ext cx="5193792" cy="3200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Imbalance between ranks reached λ = 0.11 (threads only fixed)</a:t>
            </a:r>
            <a:endParaRPr lang="en-US" sz="1300" dirty="0"/>
          </a:p>
        </p:txBody>
      </p:sp>
      <p:sp>
        <p:nvSpPr>
          <p:cNvPr id="15" name="Shape 12"/>
          <p:cNvSpPr/>
          <p:nvPr/>
        </p:nvSpPr>
        <p:spPr>
          <a:xfrm>
            <a:off x="6309360" y="4297680"/>
            <a:ext cx="5193792" cy="0"/>
          </a:xfrm>
          <a:prstGeom prst="line">
            <a:avLst/>
          </a:prstGeom>
          <a:noFill/>
          <a:ln w="9525">
            <a:solidFill>
              <a:srgbClr val="D9D5CC"/>
            </a:solidFill>
            <a:prstDash val="solid"/>
          </a:ln>
        </p:spPr>
      </p:sp>
      <p:sp>
        <p:nvSpPr>
          <p:cNvPr id="16" name="Text 13"/>
          <p:cNvSpPr txBox="1"/>
          <p:nvPr/>
        </p:nvSpPr>
        <p:spPr>
          <a:xfrm>
            <a:off x="6309360" y="4617720"/>
            <a:ext cx="5193792" cy="201168"/>
          </a:xfrm>
          <a:prstGeom prst="rect">
            <a:avLst/>
          </a:prstGeom>
          <a:noFill/>
          <a:ln/>
        </p:spPr>
        <p:txBody>
          <a:bodyPr wrap="square" lIns="0" tIns="0" rIns="0" bIns="0" rtlCol="0" anchor="t"/>
          <a:lstStyle/>
          <a:p>
            <a:pPr marL="0" indent="0">
              <a:buNone/>
            </a:pPr>
            <a:r>
              <a:rPr lang="en-US" sz="900" kern="0" spc="100" dirty="0">
                <a:solidFill>
                  <a:srgbClr val="D9472B"/>
                </a:solidFill>
                <a:latin typeface="IBM Plex Mono" pitchFamily="34" charset="0"/>
                <a:ea typeface="IBM Plex Mono" pitchFamily="34" charset="-122"/>
                <a:cs typeface="IBM Plex Mono" pitchFamily="34" charset="-120"/>
              </a:rPr>
              <a:t>NEXT STEPS</a:t>
            </a:r>
            <a:endParaRPr lang="en-US" sz="900" dirty="0"/>
          </a:p>
        </p:txBody>
      </p:sp>
      <p:sp>
        <p:nvSpPr>
          <p:cNvPr id="17" name="Shape 14"/>
          <p:cNvSpPr/>
          <p:nvPr/>
        </p:nvSpPr>
        <p:spPr>
          <a:xfrm>
            <a:off x="6309360" y="4892040"/>
            <a:ext cx="5193792" cy="0"/>
          </a:xfrm>
          <a:prstGeom prst="line">
            <a:avLst/>
          </a:prstGeom>
          <a:noFill/>
          <a:ln w="9525">
            <a:solidFill>
              <a:srgbClr val="D9D5CC"/>
            </a:solidFill>
            <a:prstDash val="solid"/>
          </a:ln>
        </p:spPr>
      </p:sp>
      <p:sp>
        <p:nvSpPr>
          <p:cNvPr id="18" name="Text 15"/>
          <p:cNvSpPr txBox="1"/>
          <p:nvPr/>
        </p:nvSpPr>
        <p:spPr>
          <a:xfrm>
            <a:off x="6309360" y="5001768"/>
            <a:ext cx="5193792" cy="3200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Cost-weighted rank partitioning: up to 17.2 % faster</a:t>
            </a:r>
            <a:endParaRPr lang="en-US" sz="1300" dirty="0"/>
          </a:p>
        </p:txBody>
      </p:sp>
      <p:sp>
        <p:nvSpPr>
          <p:cNvPr id="19" name="Shape 16"/>
          <p:cNvSpPr/>
          <p:nvPr/>
        </p:nvSpPr>
        <p:spPr>
          <a:xfrm>
            <a:off x="6309360" y="5394960"/>
            <a:ext cx="5193792" cy="0"/>
          </a:xfrm>
          <a:prstGeom prst="line">
            <a:avLst/>
          </a:prstGeom>
          <a:noFill/>
          <a:ln w="9525">
            <a:solidFill>
              <a:srgbClr val="D9D5CC"/>
            </a:solidFill>
            <a:prstDash val="solid"/>
          </a:ln>
        </p:spPr>
      </p:sp>
      <p:sp>
        <p:nvSpPr>
          <p:cNvPr id="20" name="Text 17"/>
          <p:cNvSpPr txBox="1"/>
          <p:nvPr/>
        </p:nvSpPr>
        <p:spPr>
          <a:xfrm>
            <a:off x="6309360" y="5504688"/>
            <a:ext cx="5193792" cy="320040"/>
          </a:xfrm>
          <a:prstGeom prst="rect">
            <a:avLst/>
          </a:prstGeom>
          <a:noFill/>
          <a:ln/>
        </p:spPr>
        <p:txBody>
          <a:bodyPr wrap="square" lIns="0" tIns="0" rIns="0" bIns="0" rtlCol="0" anchor="t"/>
          <a:lstStyle/>
          <a:p>
            <a:pPr marL="0" indent="0">
              <a:buNone/>
            </a:pPr>
            <a:r>
              <a:rPr lang="en-US" sz="1300" dirty="0">
                <a:solidFill>
                  <a:srgbClr val="111111"/>
                </a:solidFill>
                <a:latin typeface="IBM Plex Sans" pitchFamily="34" charset="0"/>
                <a:ea typeface="IBM Plex Sans" pitchFamily="34" charset="-122"/>
                <a:cs typeface="IBM Plex Sans" pitchFamily="34" charset="-120"/>
              </a:rPr>
              <a:t>Controller that also picks guided; multi-node runs</a:t>
            </a:r>
            <a:endParaRPr lang="en-US" sz="1300" dirty="0"/>
          </a:p>
        </p:txBody>
      </p:sp>
      <p:sp>
        <p:nvSpPr>
          <p:cNvPr id="21" name="Shape 18"/>
          <p:cNvSpPr/>
          <p:nvPr/>
        </p:nvSpPr>
        <p:spPr>
          <a:xfrm>
            <a:off x="6309360" y="5897880"/>
            <a:ext cx="5193792" cy="0"/>
          </a:xfrm>
          <a:prstGeom prst="line">
            <a:avLst/>
          </a:prstGeom>
          <a:noFill/>
          <a:ln w="9525">
            <a:solidFill>
              <a:srgbClr val="D9D5CC"/>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2148840"/>
            <a:ext cx="7315200" cy="1097280"/>
          </a:xfrm>
          <a:prstGeom prst="rect">
            <a:avLst/>
          </a:prstGeom>
          <a:noFill/>
          <a:ln/>
        </p:spPr>
        <p:txBody>
          <a:bodyPr wrap="square" lIns="0" tIns="0" rIns="0" bIns="0" rtlCol="0" anchor="t"/>
          <a:lstStyle/>
          <a:p>
            <a:pPr marL="0" indent="0">
              <a:buNone/>
            </a:pPr>
            <a:r>
              <a:rPr lang="en-US" sz="6000" b="1" dirty="0">
                <a:solidFill>
                  <a:srgbClr val="F5F3EE"/>
                </a:solidFill>
                <a:latin typeface="IBM Plex Sans" pitchFamily="34" charset="0"/>
                <a:ea typeface="IBM Plex Sans" pitchFamily="34" charset="-122"/>
                <a:cs typeface="IBM Plex Sans" pitchFamily="34" charset="-120"/>
              </a:rPr>
              <a:t>Thank you</a:t>
            </a:r>
            <a:endParaRPr lang="en-US" sz="6000" dirty="0"/>
          </a:p>
        </p:txBody>
      </p:sp>
      <p:sp>
        <p:nvSpPr>
          <p:cNvPr id="3" name="Text 1"/>
          <p:cNvSpPr txBox="1"/>
          <p:nvPr/>
        </p:nvSpPr>
        <p:spPr>
          <a:xfrm>
            <a:off x="685800" y="3291840"/>
            <a:ext cx="7315200" cy="548640"/>
          </a:xfrm>
          <a:prstGeom prst="rect">
            <a:avLst/>
          </a:prstGeom>
          <a:noFill/>
          <a:ln/>
        </p:spPr>
        <p:txBody>
          <a:bodyPr wrap="square" lIns="0" tIns="0" rIns="0" bIns="0" rtlCol="0" anchor="t"/>
          <a:lstStyle/>
          <a:p>
            <a:pPr marL="0" indent="0">
              <a:buNone/>
            </a:pPr>
            <a:r>
              <a:rPr lang="en-US" sz="2400" dirty="0">
                <a:solidFill>
                  <a:srgbClr val="B9B5AC"/>
                </a:solidFill>
                <a:latin typeface="IBM Plex Sans" pitchFamily="34" charset="0"/>
                <a:ea typeface="IBM Plex Sans" pitchFamily="34" charset="-122"/>
                <a:cs typeface="IBM Plex Sans" pitchFamily="34" charset="-120"/>
              </a:rPr>
              <a:t>Questions?</a:t>
            </a:r>
            <a:endParaRPr lang="en-US" sz="2400" dirty="0"/>
          </a:p>
        </p:txBody>
      </p:sp>
      <p:sp>
        <p:nvSpPr>
          <p:cNvPr id="4" name="Shape 2"/>
          <p:cNvSpPr/>
          <p:nvPr/>
        </p:nvSpPr>
        <p:spPr>
          <a:xfrm>
            <a:off x="685800" y="4343400"/>
            <a:ext cx="5029200" cy="0"/>
          </a:xfrm>
          <a:prstGeom prst="line">
            <a:avLst/>
          </a:prstGeom>
          <a:noFill/>
          <a:ln w="9525">
            <a:solidFill>
              <a:srgbClr val="3A3936"/>
            </a:solidFill>
            <a:prstDash val="solid"/>
          </a:ln>
        </p:spPr>
      </p:sp>
      <p:sp>
        <p:nvSpPr>
          <p:cNvPr id="5" name="Text 3"/>
          <p:cNvSpPr txBox="1"/>
          <p:nvPr/>
        </p:nvSpPr>
        <p:spPr>
          <a:xfrm>
            <a:off x="685800" y="4526280"/>
            <a:ext cx="7315200" cy="274320"/>
          </a:xfrm>
          <a:prstGeom prst="rect">
            <a:avLst/>
          </a:prstGeom>
          <a:noFill/>
          <a:ln/>
        </p:spPr>
        <p:txBody>
          <a:bodyPr wrap="square" lIns="0" tIns="0" rIns="0" bIns="0" rtlCol="0" anchor="t"/>
          <a:lstStyle/>
          <a:p>
            <a:pPr marL="0" indent="0">
              <a:buNone/>
            </a:pPr>
            <a:r>
              <a:rPr lang="en-US" sz="1100" dirty="0">
                <a:solidFill>
                  <a:srgbClr val="F5F3EE"/>
                </a:solidFill>
                <a:latin typeface="IBM Plex Mono" pitchFamily="34" charset="0"/>
                <a:ea typeface="IBM Plex Mono" pitchFamily="34" charset="-122"/>
                <a:cs typeface="IBM Plex Mono" pitchFamily="34" charset="-120"/>
              </a:rPr>
              <a:t>Tanish Hemant Kuvar  ·  M. Vishal Kumar  ·  Samyak Jain</a:t>
            </a:r>
            <a:endParaRPr lang="en-US" sz="1100" dirty="0"/>
          </a:p>
        </p:txBody>
      </p:sp>
      <p:sp>
        <p:nvSpPr>
          <p:cNvPr id="6" name="Text 4"/>
          <p:cNvSpPr txBox="1"/>
          <p:nvPr/>
        </p:nvSpPr>
        <p:spPr>
          <a:xfrm>
            <a:off x="685800" y="4892040"/>
            <a:ext cx="7315200" cy="274320"/>
          </a:xfrm>
          <a:prstGeom prst="rect">
            <a:avLst/>
          </a:prstGeom>
          <a:noFill/>
          <a:ln/>
        </p:spPr>
        <p:txBody>
          <a:bodyPr wrap="square" lIns="0" tIns="0" rIns="0" bIns="0" rtlCol="0" anchor="t"/>
          <a:lstStyle/>
          <a:p>
            <a:pPr marL="0" indent="0">
              <a:buNone/>
            </a:pPr>
            <a:r>
              <a:rPr lang="en-US" sz="1100" dirty="0">
                <a:solidFill>
                  <a:srgbClr val="B9B5AC"/>
                </a:solidFill>
                <a:latin typeface="IBM Plex Mono" pitchFamily="34" charset="0"/>
                <a:ea typeface="IBM Plex Mono" pitchFamily="34" charset="-122"/>
                <a:cs typeface="IBM Plex Mono" pitchFamily="34" charset="-120"/>
              </a:rPr>
              <a:t>github.com/tanishkuvar11/N-Body-Simulation</a:t>
            </a:r>
            <a:endParaRPr lang="en-US" sz="1100" dirty="0"/>
          </a:p>
        </p:txBody>
      </p:sp>
    </p:spTree>
  </p:cSld>
  <p:clrMapOvr>
    <a:masterClrMapping/>
  </p:clrMapOvr>
</p:sld>
</file>

<file path=ppt/theme/theme1.xml><?xml version="1.0" encoding="utf-8"?>
<a:theme xmlns:a="http://schemas.openxmlformats.org/drawingml/2006/main" name="PCAP Editorial">
  <a:themeElements>
    <a:clrScheme name="PCAP Editorial">
      <a:dk1>
        <a:srgbClr val="111111"/>
      </a:dk1>
      <a:lt1>
        <a:srgbClr val="F5F3EE"/>
      </a:lt1>
      <a:dk2>
        <a:srgbClr val="6B6862"/>
      </a:dk2>
      <a:lt2>
        <a:srgbClr val="E4E1D9"/>
      </a:lt2>
      <a:accent1>
        <a:srgbClr val="D9472B"/>
      </a:accent1>
      <a:accent2>
        <a:srgbClr val="8E8A82"/>
      </a:accent2>
      <a:accent3>
        <a:srgbClr val="3A3936"/>
      </a:accent3>
      <a:accent4>
        <a:srgbClr val="B9B5AC"/>
      </a:accent4>
      <a:accent5>
        <a:srgbClr val="6B6862"/>
      </a:accent5>
      <a:accent6>
        <a:srgbClr val="111111"/>
      </a:accent6>
      <a:hlink>
        <a:srgbClr val="D9472B"/>
      </a:hlink>
      <a:folHlink>
        <a:srgbClr val="6B6862"/>
      </a:folHlink>
    </a:clrScheme>
    <a:fontScheme name="PCAP Editoria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2157</Words>
  <Application>Microsoft Office PowerPoint</Application>
  <PresentationFormat>Widescreen</PresentationFormat>
  <Paragraphs>204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IBM Plex Mono</vt:lpstr>
      <vt:lpstr>IBM Plex Sans</vt:lpstr>
      <vt:lpstr>PCAP Editorial</vt:lpstr>
      <vt:lpstr>PowerPoint Presentation</vt:lpstr>
      <vt:lpstr>Clustering turns equal shares of bodies into unequal shares of work</vt:lpstr>
      <vt:lpstr>All four synopsis objectives are implemented and measured</vt:lpstr>
      <vt:lpstr>Every rank replicates the tree; threads and the GPU share the force work</vt:lpstr>
      <vt:lpstr>The controller switches schedule when measured imbalance crosses a threshold</vt:lpstr>
      <vt:lpstr>Experiments cover four inputs, three sizes, 1–8 threads and 1–4 ranks</vt:lpstr>
      <vt:lpstr>Imbalance appears only once the core forms, and the controller follows it</vt:lpstr>
      <vt:lpstr>Adaptive beats static in all nine clustered cases; guided gains more</vt:lpstr>
      <vt:lpstr>The GPU removes the O(N²) cost; imbalance between ranks remains open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Scheduling for Load-Balanced Parallel N-Body Simulation</dc:title>
  <dc:subject>PCAP course project</dc:subject>
  <dc:creator>Tanish Hemant Kuvar, M. Vishal Kumar, Samyak Jain</dc:creator>
  <cp:lastModifiedBy>Tanish Kuvar</cp:lastModifiedBy>
  <cp:revision>2</cp:revision>
  <dcterms:created xsi:type="dcterms:W3CDTF">2026-10-26T18:33:44Z</dcterms:created>
  <dcterms:modified xsi:type="dcterms:W3CDTF">2026-10-26T18:33:46Z</dcterms:modified>
</cp:coreProperties>
</file>